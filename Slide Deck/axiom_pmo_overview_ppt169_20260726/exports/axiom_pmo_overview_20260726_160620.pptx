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xiom_pmo_ov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xiom_pmo_ov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666750"/>
            <a:ext cx="1737611" cy="518351"/>
            <a:chOff x="678942" y="666750"/>
            <a:chExt cx="1737611" cy="518351"/>
          </a:xfrm>
        </p:grpSpPr>
        <p:sp>
          <p:nvSpPr>
            <p:cNvPr id="2" name="Rectangle 2"/>
            <p:cNvSpPr/>
            <p:nvPr/>
          </p:nvSpPr>
          <p:spPr>
            <a:xfrm>
              <a:off x="685800" y="666750"/>
              <a:ext cx="4953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921068"/>
              <a:ext cx="1737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1.1.1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2041208"/>
            <a:ext cx="8453432" cy="2850832"/>
            <a:chOff x="666750" y="2041208"/>
            <a:chExt cx="8453432" cy="2850832"/>
          </a:xfrm>
        </p:grpSpPr>
        <p:sp>
          <p:nvSpPr>
            <p:cNvPr id="5" name="TextBox 5"/>
            <p:cNvSpPr txBox="1"/>
            <p:nvPr/>
          </p:nvSpPr>
          <p:spPr>
            <a:xfrm>
              <a:off x="669798" y="2041208"/>
              <a:ext cx="53413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agents can write code.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748915"/>
              <a:ext cx="674843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They </a:t>
              </a:r>
              <a:r>
                <a:rPr lang="en-US" sz="6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should not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3672840"/>
              <a:ext cx="845343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invent the project.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4370" y="5191125"/>
            <a:ext cx="10831830" cy="1023176"/>
            <a:chOff x="674370" y="5191125"/>
            <a:chExt cx="10831830" cy="1023176"/>
          </a:xfrm>
        </p:grpSpPr>
        <p:sp>
          <p:nvSpPr>
            <p:cNvPr id="9" name="Line 9"/>
            <p:cNvSpPr/>
            <p:nvPr/>
          </p:nvSpPr>
          <p:spPr>
            <a:xfrm>
              <a:off x="685800" y="51911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4370" y="5443538"/>
              <a:ext cx="6239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เขียนโค้ดได้ แต่ต้องไม่กุโปรเจกต์ขึ้นมาเอง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5950268"/>
              <a:ext cx="7140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Anti-Hallucination Framework for AI Agents — กรอบกำกับการทำงานของ AI Agent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5889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ปัญหาไม่ใช่ AI เขียนโค้ดไม่เป็น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73608" y="2407920"/>
            <a:ext cx="5127955" cy="898017"/>
            <a:chOff x="673608" y="2407920"/>
            <a:chExt cx="5127955" cy="898017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407920"/>
              <a:ext cx="51279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ส่งงานมาแล้ว — แต่คุณรู้ได้ยังไงว่า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2836545"/>
              <a:ext cx="3671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สิ่งที่มันทำ คือสิ่งที่ลูกค้าขอ?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3806190"/>
            <a:ext cx="3382747" cy="1304544"/>
            <a:chOff x="685800" y="3806190"/>
            <a:chExt cx="3382747" cy="1304544"/>
          </a:xfrm>
        </p:grpSpPr>
        <p:sp>
          <p:nvSpPr>
            <p:cNvPr id="10" name="Rectangle 10"/>
            <p:cNvSpPr/>
            <p:nvPr/>
          </p:nvSpPr>
          <p:spPr>
            <a:xfrm>
              <a:off x="685800" y="392430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3806190"/>
              <a:ext cx="301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ข้อนี้มาจากไหน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440055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7656" y="42824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ใครเป็นคนอนุมัติ scope นี้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87680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7656" y="475869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ใครยืนยันว่าเทสต์ผ่านจริง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656" y="5520690"/>
            <a:ext cx="5068759" cy="352044"/>
            <a:chOff x="676656" y="5520690"/>
            <a:chExt cx="5068759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676656" y="5520690"/>
              <a:ext cx="5068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ถ้าตอบสามข้อนี้ไม่ได้ แปลว่ายังไม่มี governance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6406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ที่ไม่ถูกคุม จะทำห้าอย่างนี้เสมอ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8942" y="2186940"/>
            <a:ext cx="10827258" cy="699135"/>
            <a:chOff x="678942" y="2186940"/>
            <a:chExt cx="10827258" cy="699135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2186940"/>
              <a:ext cx="794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2521268"/>
              <a:ext cx="6338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กุ requirement, acceptance criteria, actor หรือการอนุมัติ ที่ไม่เคยมีใครให้ไว้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876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8942" y="2929890"/>
            <a:ext cx="10827258" cy="699135"/>
            <a:chOff x="678942" y="2929890"/>
            <a:chExt cx="10827258" cy="699135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2978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929890"/>
              <a:ext cx="2638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silently expand 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3264218"/>
              <a:ext cx="3921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เติมฟีเจอร์ที่ดูน่าจะดี ซึ่งไม่มีใครขอ แล้วไม่บอกว่าเติม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78942" y="3672840"/>
            <a:ext cx="10827258" cy="699135"/>
            <a:chOff x="678942" y="3672840"/>
            <a:chExt cx="10827258" cy="699135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37214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3856" y="3672840"/>
              <a:ext cx="17738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claim 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142" y="4007168"/>
              <a:ext cx="5457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อ้างว่าเทสต์ผ่าน หรือ QA อนุมัติแล้ว ทั้งที่ตัวเองเป็นคนสร้างหลักฐานนั้น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4362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78942" y="4415790"/>
            <a:ext cx="10827258" cy="699135"/>
            <a:chOff x="678942" y="4415790"/>
            <a:chExt cx="10827258" cy="699135"/>
          </a:xfrm>
        </p:grpSpPr>
        <p:sp>
          <p:nvSpPr>
            <p:cNvPr id="22" name="TextBox 22"/>
            <p:cNvSpPr txBox="1"/>
            <p:nvPr/>
          </p:nvSpPr>
          <p:spPr>
            <a:xfrm>
              <a:off x="678942" y="44643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4415790"/>
              <a:ext cx="2079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lose traceability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142" y="4750118"/>
              <a:ext cx="468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ทำให้สาวไม่ได้ว่าสิ่งที่ build ออกมา มาจากคำขอข้อไหนของใคร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78942" y="5158740"/>
            <a:ext cx="4868951" cy="598361"/>
            <a:chOff x="678942" y="5158740"/>
            <a:chExt cx="4868951" cy="598361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5207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3856" y="5158740"/>
              <a:ext cx="3402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cross authority boundaries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142" y="5493068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commit, push หรือ release โดยไม่มีมนุษย์คนไหนพูดว่าใช่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8942" y="6045518"/>
            <a:ext cx="4641014" cy="264033"/>
            <a:chOff x="678942" y="6045518"/>
            <a:chExt cx="4641014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78942" y="6045518"/>
              <a:ext cx="4641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ทั้งห้าข้อนี้ AI ไม่ได้ตั้งใจโกหก — มันแค่เติมช่องว่างให้เต็ม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60429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 คือคำขอ ไม่ใช่ control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74370" y="2059781"/>
            <a:ext cx="4021074" cy="3317653"/>
            <a:chOff x="674370" y="2059781"/>
            <a:chExt cx="4021074" cy="3317653"/>
          </a:xfrm>
        </p:grpSpPr>
        <p:grpSp>
          <p:nvGrpSpPr>
            <p:cNvPr id="9" name="Group 9"/>
            <p:cNvGrpSpPr/>
            <p:nvPr/>
          </p:nvGrpSpPr>
          <p:grpSpPr>
            <a:xfrm>
              <a:off x="708071" y="2059781"/>
              <a:ext cx="263510" cy="242888"/>
              <a:chOff x="708071" y="2059781"/>
              <a:chExt cx="263510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08071" y="205978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88207" y="224869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74370" y="2595562"/>
              <a:ext cx="4013359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prompt that politely asks the agent not to do these things is not a control.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996690"/>
              <a:ext cx="40187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Axiom-PMO เปลี่ยนข้อห้ามแต่ละข้อ ให้เป็นสัญญาที่เครื่องตรวจสอบได้ มี validator ที่ exit non-zero เมื่อสัญญา ถูกละเมิด เหมือน linter ที่ทำให้ PR ไม่ผ่าน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5425440"/>
            <a:ext cx="5840493" cy="352044"/>
            <a:chOff x="676656" y="5425440"/>
            <a:chExt cx="5840493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5425440"/>
              <a:ext cx="5840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Nothing is enforced by asking the agent nicely.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953250" y="2190750"/>
            <a:ext cx="4552950" cy="3752850"/>
            <a:chOff x="6953250" y="2190750"/>
            <a:chExt cx="4552950" cy="3752850"/>
          </a:xfrm>
        </p:grpSpPr>
        <p:sp>
          <p:nvSpPr>
            <p:cNvPr id="15" name="Rectangle 15"/>
            <p:cNvSpPr/>
            <p:nvPr/>
          </p:nvSpPr>
          <p:spPr>
            <a:xfrm>
              <a:off x="6953250" y="2190750"/>
              <a:ext cx="4552950" cy="3752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53250" y="2190750"/>
              <a:ext cx="47625" cy="3752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1192" y="2502218"/>
              <a:ext cx="27234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เคสจริงที่ทำให้ framework นี้เกิด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48906" y="2872740"/>
              <a:ext cx="2682621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Agent That Shipped Without Permission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58050" y="3638550"/>
              <a:ext cx="190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1192" y="3835718"/>
              <a:ext cx="294551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commit และ push ขึ้น main เอง แก้ไปหลายร้อยไฟล์ ไม่มีใคร review diff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58050" y="4400550"/>
              <a:ext cx="190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4597718"/>
              <a:ext cx="22768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รายงานสถานะของตัวเองบอกว่า ยังไม่ได้ commit หรือ push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58050" y="516255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1192" y="5359718"/>
              <a:ext cx="26150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สาเหตุราก — The boundary lived only in prose.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ภาพรวมสถาปัตยกรรม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75179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เป็นชั้นกำกับ ไม่ใช่ชั้นลงมือ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714750" y="2019300"/>
            <a:ext cx="4762500" cy="457200"/>
            <a:chOff x="3714750" y="2019300"/>
            <a:chExt cx="4762500" cy="457200"/>
          </a:xfrm>
        </p:grpSpPr>
        <p:sp>
          <p:nvSpPr>
            <p:cNvPr id="7" name="Rectangle 7"/>
            <p:cNvSpPr/>
            <p:nvPr/>
          </p:nvSpPr>
          <p:spPr>
            <a:xfrm>
              <a:off x="3714750" y="2019300"/>
              <a:ext cx="47625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98225" y="2143125"/>
              <a:ext cx="2995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Human / PM / Product Owner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05000" y="2724150"/>
            <a:ext cx="8382000" cy="1619250"/>
            <a:chOff x="1905000" y="2724150"/>
            <a:chExt cx="8382000" cy="1619250"/>
          </a:xfrm>
        </p:grpSpPr>
        <p:sp>
          <p:nvSpPr>
            <p:cNvPr id="10" name="Rectangle 10"/>
            <p:cNvSpPr/>
            <p:nvPr/>
          </p:nvSpPr>
          <p:spPr>
            <a:xfrm>
              <a:off x="1905000" y="2724150"/>
              <a:ext cx="8382000" cy="1619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83600" y="2850832"/>
              <a:ext cx="46248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— Governance &amp; Control Plane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64842" y="3245168"/>
              <a:ext cx="2527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Source-of-truth protection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4842" y="3511868"/>
              <a:ext cx="222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traceability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4842" y="3778568"/>
              <a:ext cx="2750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 / Standard / Strict modes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64842" y="4045268"/>
              <a:ext cx="2091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Scope &amp; design approval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3245168"/>
              <a:ext cx="2018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 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9642" y="3511868"/>
              <a:ext cx="2644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QA / security / release gates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9642" y="3778568"/>
              <a:ext cx="2472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 authority boundaries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4629150"/>
            <a:ext cx="8382000" cy="842201"/>
            <a:chOff x="1905000" y="4629150"/>
            <a:chExt cx="8382000" cy="842201"/>
          </a:xfrm>
        </p:grpSpPr>
        <p:sp>
          <p:nvSpPr>
            <p:cNvPr id="20" name="Rectangle 20"/>
            <p:cNvSpPr/>
            <p:nvPr/>
          </p:nvSpPr>
          <p:spPr>
            <a:xfrm>
              <a:off x="1905000" y="4629150"/>
              <a:ext cx="83820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1368" y="4717732"/>
              <a:ext cx="27292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Execution Framework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8866" y="4997768"/>
              <a:ext cx="577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Superpowers / BMAD / spec-kit / OpenSpec / custom Claude Code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2577" y="5207318"/>
              <a:ext cx="5346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Planning · TDD · Implementation · Code review · Verification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5000" y="5715000"/>
            <a:ext cx="8382000" cy="533400"/>
            <a:chOff x="1905000" y="5715000"/>
            <a:chExt cx="8382000" cy="5334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715000"/>
              <a:ext cx="8382000" cy="533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73891" y="5781675"/>
              <a:ext cx="2244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Validation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56078" y="6039802"/>
              <a:ext cx="76798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Scope compliance · Evidence verification · Traceability update · QA / security review · Human release approval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19800" y="1965960"/>
            <a:ext cx="4943475" cy="4025265"/>
            <a:chOff x="6019800" y="1965960"/>
            <a:chExt cx="4943475" cy="4025265"/>
          </a:xfrm>
        </p:grpSpPr>
        <p:sp>
          <p:nvSpPr>
            <p:cNvPr id="29" name="Line 29"/>
            <p:cNvSpPr/>
            <p:nvPr/>
          </p:nvSpPr>
          <p:spPr>
            <a:xfrm>
              <a:off x="6096000" y="24765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19800" y="264795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6096000" y="4343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019800" y="451485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404" y="4385310"/>
              <a:ext cx="240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approved execution contract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0" y="54673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019800" y="560070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404" y="5490210"/>
              <a:ext cx="2276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candidate result + evidence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0287000" y="5981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953750" y="22479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3733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591550" y="22479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23622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8496300" y="217170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95250" y="0"/>
                  </a:moveTo>
                  <a:lnTo>
                    <a:pt x="95250" y="1524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50812" y="1965960"/>
              <a:ext cx="1470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release readiness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1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88207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 — ทุกข้ออ้างต้องสาวกลับไปหาแหล่งได้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85800" y="2143125"/>
            <a:ext cx="10820400" cy="1809750"/>
            <a:chOff x="685800" y="2143125"/>
            <a:chExt cx="10820400" cy="1809750"/>
          </a:xfrm>
        </p:grpSpPr>
        <p:sp>
          <p:nvSpPr>
            <p:cNvPr id="7" name="Rectangle 7"/>
            <p:cNvSpPr/>
            <p:nvPr/>
          </p:nvSpPr>
          <p:spPr>
            <a:xfrm>
              <a:off x="685800" y="2143125"/>
              <a:ext cx="1082040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3742" y="2349818"/>
              <a:ext cx="49943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id: REQ-001 statement: "User can reset password by verified email." source_ref: - source_id: MOM-20260710 locator: item-2.1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3092768"/>
              <a:ext cx="2647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evidence_status: supported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3340418"/>
              <a:ext cx="40256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acceptance_criteria: "Given a registered email, a reset link is sent."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4286250"/>
            <a:ext cx="2016633" cy="1089851"/>
            <a:chOff x="678942" y="4286250"/>
            <a:chExt cx="2016633" cy="1089851"/>
          </a:xfrm>
        </p:grpSpPr>
        <p:sp>
          <p:nvSpPr>
            <p:cNvPr id="12" name="Rectangle 12"/>
            <p:cNvSpPr/>
            <p:nvPr/>
          </p:nvSpPr>
          <p:spPr>
            <a:xfrm>
              <a:off x="685800" y="4286250"/>
              <a:ext cx="200977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45405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verified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4864418"/>
              <a:ext cx="13338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มีแหล่งอ้างอิงตรง และมนุษย์อนุมัติแล้ว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79217" y="4286250"/>
            <a:ext cx="2016633" cy="1089851"/>
            <a:chOff x="2879217" y="4286250"/>
            <a:chExt cx="2016633" cy="1089851"/>
          </a:xfrm>
        </p:grpSpPr>
        <p:sp>
          <p:nvSpPr>
            <p:cNvPr id="16" name="Rectangle 16"/>
            <p:cNvSpPr/>
            <p:nvPr/>
          </p:nvSpPr>
          <p:spPr>
            <a:xfrm>
              <a:off x="2886075" y="4286250"/>
              <a:ext cx="200977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79217" y="4540568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supported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79217" y="4864418"/>
              <a:ext cx="123958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มีแหล่งอ้างอิงตรง แต่ยังรออนุมัติ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79492" y="4286250"/>
            <a:ext cx="2016633" cy="1089851"/>
            <a:chOff x="5079492" y="4286250"/>
            <a:chExt cx="2016633" cy="1089851"/>
          </a:xfrm>
        </p:grpSpPr>
        <p:sp>
          <p:nvSpPr>
            <p:cNvPr id="20" name="Rectangle 20"/>
            <p:cNvSpPr/>
            <p:nvPr/>
          </p:nvSpPr>
          <p:spPr>
            <a:xfrm>
              <a:off x="5086350" y="4286250"/>
              <a:ext cx="2009775" cy="57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79492" y="45405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inferred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9492" y="4864418"/>
              <a:ext cx="17110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อนุมานจากแหล่งที่ไม่ครบ ต้องให้คนรีวิว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79767" y="4286250"/>
            <a:ext cx="2016633" cy="1089851"/>
            <a:chOff x="7279767" y="4286250"/>
            <a:chExt cx="2016633" cy="1089851"/>
          </a:xfrm>
        </p:grpSpPr>
        <p:sp>
          <p:nvSpPr>
            <p:cNvPr id="24" name="Rectangle 24"/>
            <p:cNvSpPr/>
            <p:nvPr/>
          </p:nvSpPr>
          <p:spPr>
            <a:xfrm>
              <a:off x="7286625" y="4286250"/>
              <a:ext cx="200977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79767" y="4540568"/>
              <a:ext cx="691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missing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9767" y="4864418"/>
              <a:ext cx="16596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ไม่พบในแหล่ง ห้ามเป็น requirement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80042" y="4286250"/>
            <a:ext cx="2026158" cy="1089851"/>
            <a:chOff x="9480042" y="4286250"/>
            <a:chExt cx="2026158" cy="1089851"/>
          </a:xfrm>
        </p:grpSpPr>
        <p:sp>
          <p:nvSpPr>
            <p:cNvPr id="28" name="Rectangle 28"/>
            <p:cNvSpPr/>
            <p:nvPr/>
          </p:nvSpPr>
          <p:spPr>
            <a:xfrm>
              <a:off x="9486900" y="4286250"/>
              <a:ext cx="20193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80042" y="45405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conflict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80042" y="4864418"/>
              <a:ext cx="161677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แหล่งขัดกันเอง ต้องเคลียร์ก่อนออกจริง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4370" y="5967412"/>
            <a:ext cx="9786680" cy="440055"/>
            <a:chOff x="674370" y="5967412"/>
            <a:chExt cx="9786680" cy="440055"/>
          </a:xfrm>
        </p:grpSpPr>
        <p:sp>
          <p:nvSpPr>
            <p:cNvPr id="32" name="TextBox 32"/>
            <p:cNvSpPr txBox="1"/>
            <p:nvPr/>
          </p:nvSpPr>
          <p:spPr>
            <a:xfrm>
              <a:off x="674370" y="5967412"/>
              <a:ext cx="97866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inferred, missing, conflict — ไม่ใช่ความล้มเหลว แต่คือคำตอบที่ซื่อสัตย์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2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830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Risk Modes — เลือกโหมดเบาที่สุดที่ยังคุมความเสี่ยงจริงได้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2143125"/>
            <a:ext cx="3448050" cy="2280476"/>
            <a:chOff x="685800" y="2143125"/>
            <a:chExt cx="3448050" cy="2280476"/>
          </a:xfrm>
        </p:grpSpPr>
        <p:sp>
          <p:nvSpPr>
            <p:cNvPr id="7" name="Rectangle 7"/>
            <p:cNvSpPr/>
            <p:nvPr/>
          </p:nvSpPr>
          <p:spPr>
            <a:xfrm>
              <a:off x="685800" y="2143125"/>
              <a:ext cx="34480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7156" y="2225040"/>
              <a:ext cx="521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442" y="2759392"/>
              <a:ext cx="18996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บั๊กเล็ก งานความเสี่ยงต่ำ หรือคำถามเพื่อความชัดเจน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3528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204" y="3489960"/>
              <a:ext cx="15819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Requirement → AC → Develop → Test → Done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0195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442" y="4159568"/>
              <a:ext cx="2134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เจ้าของงานกลาง ๆ = </a:t>
              </a:r>
              <a:r>
                <a:rPr lang="en-US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warn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62450" y="2143125"/>
            <a:ext cx="3448050" cy="2280476"/>
            <a:chOff x="4362450" y="2143125"/>
            <a:chExt cx="3448050" cy="2280476"/>
          </a:xfrm>
        </p:grpSpPr>
        <p:sp>
          <p:nvSpPr>
            <p:cNvPr id="15" name="Rectangle 15"/>
            <p:cNvSpPr/>
            <p:nvPr/>
          </p:nvSpPr>
          <p:spPr>
            <a:xfrm>
              <a:off x="4362450" y="2143125"/>
              <a:ext cx="34480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3806" y="222504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Standard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46092" y="2759392"/>
              <a:ext cx="193395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ฟีเจอร์ปกติที่ PM, Dev, QA ต้องเห็นภาพร่วมกัน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362450" y="33528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46854" y="3489960"/>
              <a:ext cx="18409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Intake → Design → Handoff → Build → Release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362450" y="40195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46092" y="4159568"/>
              <a:ext cx="2001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เจ้าของงานกลาง ๆ =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39100" y="2143125"/>
            <a:ext cx="3467100" cy="2280476"/>
            <a:chOff x="8039100" y="2143125"/>
            <a:chExt cx="3467100" cy="2280476"/>
          </a:xfrm>
        </p:grpSpPr>
        <p:sp>
          <p:nvSpPr>
            <p:cNvPr id="23" name="Rectangle 23"/>
            <p:cNvSpPr/>
            <p:nvPr/>
          </p:nvSpPr>
          <p:spPr>
            <a:xfrm>
              <a:off x="8039100" y="2143125"/>
              <a:ext cx="34671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0456" y="222504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2742" y="2759392"/>
              <a:ext cx="243116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พลาดแล้วกระทบธุรกิจ กฎหมาย เงิน ความเป็นส่วนตัว production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039100" y="33528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3504" y="3489960"/>
              <a:ext cx="182575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+ Risk Review + Separate Review / Test + Approval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039100" y="40195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2742" y="4159568"/>
              <a:ext cx="2091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review หายหรือเก่า =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4667250"/>
            <a:ext cx="10820400" cy="1123950"/>
            <a:chOff x="685800" y="4667250"/>
            <a:chExt cx="10820400" cy="1123950"/>
          </a:xfrm>
        </p:grpSpPr>
        <p:sp>
          <p:nvSpPr>
            <p:cNvPr id="31" name="Rectangle 31"/>
            <p:cNvSpPr/>
            <p:nvPr/>
          </p:nvSpPr>
          <p:spPr>
            <a:xfrm>
              <a:off x="685800" y="4667250"/>
              <a:ext cx="108204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3742" y="4826318"/>
              <a:ext cx="6963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 strict triggers — เข้าข้อไหนข้อเดียว validator บังคับทั้งโปรเจกต์ขึ้น Strict ทันที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504" y="5128260"/>
              <a:ext cx="647395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payment · financial calculation · PII · sensitive data · authentication · authorization permission · irreversible action · external integration · legal/compliance production data migration · critical infrastructure · public-sector formal acceptance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942" y="6026468"/>
            <a:ext cx="9052635" cy="264033"/>
            <a:chOff x="678942" y="6026468"/>
            <a:chExt cx="9052635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678942" y="6026468"/>
              <a:ext cx="9052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You can always do more; you cannot silently do less. — AI ขยับขึ้นเองได้ แต่ลดจาก Strict ต้องให้คนอนุมัติ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3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48952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Gates — ห้าด่าน ห้าคำถาม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2667000"/>
            <a:ext cx="2171700" cy="2000250"/>
            <a:chOff x="685800" y="2667000"/>
            <a:chExt cx="2171700" cy="2000250"/>
          </a:xfrm>
        </p:grpSpPr>
        <p:sp>
          <p:nvSpPr>
            <p:cNvPr id="7" name="Rectangle 7"/>
            <p:cNvSpPr/>
            <p:nvPr/>
          </p:nvSpPr>
          <p:spPr>
            <a:xfrm>
              <a:off x="6858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02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31394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Draft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588068"/>
              <a:ext cx="1333881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โปรเจกต์นี้อยู่ในรูป ที่ใช้งานได้แล้ว หรือยัง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7432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895600" y="2667000"/>
            <a:ext cx="2171700" cy="2000250"/>
            <a:chOff x="2895600" y="2667000"/>
            <a:chExt cx="21717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28956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00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76956" y="31394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Scope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9242" y="3588068"/>
              <a:ext cx="1471041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ทุกข้อ มีแหล่งอ้างอิงและ อนุมัติแล้วหรือยัง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49530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105400" y="2667000"/>
            <a:ext cx="2171700" cy="2000250"/>
            <a:chOff x="5105400" y="2667000"/>
            <a:chExt cx="21717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51054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98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6756" y="313944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9042" y="3588068"/>
              <a:ext cx="105098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ดีไซน์พร้อมและ ได้รับอนุมัติแล้ว หรือยัง</a:t>
              </a:r>
            </a:p>
          </p:txBody>
        </p:sp>
        <p:sp>
          <p:nvSpPr>
            <p:cNvPr id="23" name="Polygon 23"/>
            <p:cNvSpPr/>
            <p:nvPr/>
          </p:nvSpPr>
          <p:spPr>
            <a:xfrm>
              <a:off x="71628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309104" y="2461260"/>
            <a:ext cx="2177796" cy="2205990"/>
            <a:chOff x="7309104" y="2461260"/>
            <a:chExt cx="2177796" cy="2205990"/>
          </a:xfrm>
        </p:grpSpPr>
        <p:sp>
          <p:nvSpPr>
            <p:cNvPr id="25" name="Rectangle 25"/>
            <p:cNvSpPr/>
            <p:nvPr/>
          </p:nvSpPr>
          <p:spPr>
            <a:xfrm>
              <a:off x="7315200" y="2667000"/>
              <a:ext cx="1943100" cy="2000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15200" y="2667000"/>
              <a:ext cx="1943100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9104" y="2461260"/>
              <a:ext cx="1140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checking gate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9604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556" y="31965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Handoff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8842" y="3645218"/>
              <a:ext cx="1606915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dev เริ่มงาน ต่อระบบ และเดโมได้จริง ไหม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93726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63100" y="2667000"/>
            <a:ext cx="1943100" cy="2000250"/>
            <a:chOff x="9563100" y="2667000"/>
            <a:chExt cx="19431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95631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475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4456" y="313944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Release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6742" y="3588068"/>
              <a:ext cx="115385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เทสต์ รีวิว อนุมัติ และย้อนกลับได้ แล้วหรือยัง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6656" y="5063490"/>
            <a:ext cx="9187194" cy="693611"/>
            <a:chOff x="676656" y="5063490"/>
            <a:chExt cx="9187194" cy="693611"/>
          </a:xfrm>
        </p:grpSpPr>
        <p:sp>
          <p:nvSpPr>
            <p:cNvPr id="38" name="TextBox 38"/>
            <p:cNvSpPr txBox="1"/>
            <p:nvPr/>
          </p:nvSpPr>
          <p:spPr>
            <a:xfrm>
              <a:off x="676656" y="5063490"/>
              <a:ext cx="9187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Handoff เป็นด่านตรวจ ไม่ใช่ด่านอนุมัติ — ไม่เพิ่มการเซ็นใหม่ แต่ใช้ Design Ready เดิม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942" y="5493068"/>
              <a:ext cx="8491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 gate มีรายการเอกสารที่ต้องมีของตัวเอง แยกตามโหมด กำหนดไว้ใน pmo-config/artifact-policy.json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4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7564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Human Authority — AI เสนอได้ แต่อนุมัติงานตัวเองไม่ได้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6656" y="2205990"/>
            <a:ext cx="4446232" cy="3322511"/>
            <a:chOff x="676656" y="2205990"/>
            <a:chExt cx="4446232" cy="3322511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220599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ทำเองไม่ได้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800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7498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commit, push, tag หรือ deploy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2194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3742" y="31689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อนุมัติ production release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6385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5880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อนุมัติ business scope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0576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4007168"/>
              <a:ext cx="3156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ทำเครื่องหมายว่า QA หรือ security ผ่าน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44767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42626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ย้ายแถวอนุมัติจาก pending เป็น approved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8958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42" y="484536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ปิด finding ที่ต้องตัดสินเชิงธุรกิจ กฎหมาย ความปลอดภัย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53149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3742" y="526446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เอาคะแนน readiness ไปเสนอเป็นข้อสรุป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7356" y="2157412"/>
            <a:ext cx="5228844" cy="3275839"/>
            <a:chOff x="6277356" y="2157412"/>
            <a:chExt cx="5228844" cy="3275839"/>
          </a:xfrm>
        </p:grpSpPr>
        <p:sp>
          <p:nvSpPr>
            <p:cNvPr id="23" name="TextBox 23"/>
            <p:cNvSpPr txBox="1"/>
            <p:nvPr/>
          </p:nvSpPr>
          <p:spPr>
            <a:xfrm>
              <a:off x="6277356" y="2205990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ทำได้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1210925" y="2157412"/>
              <a:ext cx="214312" cy="257176"/>
              <a:chOff x="11210925" y="2157412"/>
              <a:chExt cx="214312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1239500" y="21574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210925" y="2328862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339512" y="23574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6286500" y="28003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4442" y="2749868"/>
              <a:ext cx="2021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เสนอว่าควรไป gate ถัดไป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2194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4442" y="316896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บันทึก finding พร้อมหลักฐานอ้างอิง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6385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4442" y="3588068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ปิด finding ที่เอกสารแสดงชัดว่าแก้แล้ว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40576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4442" y="40071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เตรียม diff ให้คนรีวิว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286500" y="44767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9642" y="4673918"/>
              <a:ext cx="366560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 ทำได้เฉพาะหลังมีคนอนุมัติ diff แล้ว ส่วน push, PR, merge และ production release ต้องมีการยืนยันจากมนุษย์เสมอ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5715000"/>
            <a:ext cx="10820400" cy="609600"/>
            <a:chOff x="685800" y="5715000"/>
            <a:chExt cx="10820400" cy="609600"/>
          </a:xfrm>
        </p:grpSpPr>
        <p:sp>
          <p:nvSpPr>
            <p:cNvPr id="39" name="Rectangle 39"/>
            <p:cNvSpPr/>
            <p:nvPr/>
          </p:nvSpPr>
          <p:spPr>
            <a:xfrm>
              <a:off x="685800" y="5715000"/>
              <a:ext cx="10820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1456" y="5901690"/>
              <a:ext cx="91838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An agent </a:t>
              </a:r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may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recommend the next gate. It </a:t>
              </a:r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may not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approve its own work.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46103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ทำไมต้องมีด่าน Handoff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3608" y="2141220"/>
            <a:ext cx="8133893" cy="469392"/>
            <a:chOff x="673608" y="2141220"/>
            <a:chExt cx="8133893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141220"/>
              <a:ext cx="81338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เอกสารชุดนี้ดีพอให้ dev เริ่มสร้าง และให้ทีมเดโมทันเวลาไหม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942" y="2807018"/>
            <a:ext cx="10834116" cy="264033"/>
            <a:chOff x="678942" y="2807018"/>
            <a:chExt cx="10834116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280701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schema กลางที่ทุกงานต้องอ่าน ถูกจัดคิวไว้หลังงานที่เรียกใช้มัน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0186" y="2807018"/>
              <a:ext cx="1902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วิศวกรสองคนเสียวันแรก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3314700"/>
            <a:ext cx="10834116" cy="613601"/>
            <a:chOff x="678942" y="3314700"/>
            <a:chExt cx="10834116" cy="613601"/>
          </a:xfrm>
        </p:grpSpPr>
        <p:sp>
          <p:nvSpPr>
            <p:cNvPr id="12" name="Line 12"/>
            <p:cNvSpPr/>
            <p:nvPr/>
          </p:nvSpPr>
          <p:spPr>
            <a:xfrm>
              <a:off x="685800" y="3314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3454718"/>
              <a:ext cx="4591431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ฟีเจอร์สแกนต้องใช้กล้อง แต่ไม่มีใครตัดสินว่าหน้าเว็บจะเสิร์ฟยังไง ทำงานบน localhost แต่พังบนแท็บเล็ตที่ยืมมา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5139" y="3454718"/>
              <a:ext cx="1797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code review จับไม่ได้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8942" y="3924300"/>
            <a:ext cx="10834116" cy="613601"/>
            <a:chOff x="678942" y="3924300"/>
            <a:chExt cx="10834116" cy="613601"/>
          </a:xfrm>
        </p:grpSpPr>
        <p:sp>
          <p:nvSpPr>
            <p:cNvPr id="16" name="Line 16"/>
            <p:cNvSpPr/>
            <p:nvPr/>
          </p:nvSpPr>
          <p:spPr>
            <a:xfrm>
              <a:off x="685800" y="3924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8942" y="4064318"/>
              <a:ext cx="312553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เอกสารหนึ่งบอกว่าเก็บรูปไว้ในเครือข่ายไซต์ อีกเอกสารระบุอัปโหลดรูปโดยไม่จัดชั้นข้อมูล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25045" y="40643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ทั้งคู่ถูกในหน้าตัวเอง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8942" y="4533900"/>
            <a:ext cx="10834116" cy="404051"/>
            <a:chOff x="678942" y="4533900"/>
            <a:chExt cx="10834116" cy="404051"/>
          </a:xfrm>
        </p:grpSpPr>
        <p:sp>
          <p:nvSpPr>
            <p:cNvPr id="20" name="Line 20"/>
            <p:cNvSpPr/>
            <p:nvPr/>
          </p:nvSpPr>
          <p:spPr>
            <a:xfrm>
              <a:off x="685800" y="4533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942" y="4673918"/>
              <a:ext cx="5393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acceptance case อ้างพฤติกรรมกับ record ที่ seed data ไม่เคยสร้าง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25045" y="46739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เคสไม่เคยถูกรันจริง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942" y="5143500"/>
            <a:ext cx="10834116" cy="404051"/>
            <a:chOff x="678942" y="5143500"/>
            <a:chExt cx="10834116" cy="404051"/>
          </a:xfrm>
        </p:grpSpPr>
        <p:sp>
          <p:nvSpPr>
            <p:cNvPr id="24" name="Line 24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942" y="5283518"/>
              <a:ext cx="2442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งานถูก assign ให้ "Dev Team"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9905" y="5283518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ไม่มีใครเริ่มงาน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6656" y="5905500"/>
            <a:ext cx="10829544" cy="500634"/>
            <a:chOff x="676656" y="5905500"/>
            <a:chExt cx="10829544" cy="500634"/>
          </a:xfrm>
        </p:grpSpPr>
        <p:sp>
          <p:nvSpPr>
            <p:cNvPr id="28" name="Line 28"/>
            <p:cNvSpPr/>
            <p:nvPr/>
          </p:nvSpPr>
          <p:spPr>
            <a:xfrm>
              <a:off x="685800" y="5905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656" y="6054090"/>
              <a:ext cx="7460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ไม่มีข้อไหนที่กฎ "ช่องนี้กรอกหรือยัง" มองเห็น — และทุกข้อกินเวลาเป็นวัน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9003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สองชั้น — เครื่องตรวจกับคนตรวจ แยกกันโดยตั้งใจ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2286000"/>
            <a:ext cx="5219700" cy="2480501"/>
            <a:chOff x="685800" y="2286000"/>
            <a:chExt cx="5219700" cy="2480501"/>
          </a:xfrm>
        </p:grpSpPr>
        <p:sp>
          <p:nvSpPr>
            <p:cNvPr id="7" name="Rectangle 7"/>
            <p:cNvSpPr/>
            <p:nvPr/>
          </p:nvSpPr>
          <p:spPr>
            <a:xfrm>
              <a:off x="685800" y="2286000"/>
              <a:ext cx="52197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2415540"/>
              <a:ext cx="292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Layer 1 — Deterministic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434012" y="2424112"/>
              <a:ext cx="226219" cy="238125"/>
              <a:chOff x="5434012" y="2424112"/>
              <a:chExt cx="226219" cy="2381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434012" y="26146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553075" y="24241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553075" y="26146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493544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612606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470422" y="2563416"/>
                <a:ext cx="3429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54840">
                    <a:moveTo>
                      <a:pt x="0" y="54840"/>
                    </a:moveTo>
                    <a:lnTo>
                      <a:pt x="3429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529989" y="2468154"/>
                <a:ext cx="34254" cy="54816"/>
              </a:xfrm>
              <a:custGeom>
                <a:avLst/>
                <a:gdLst/>
                <a:ahLst/>
                <a:cxnLst/>
                <a:rect l="l" t="t" r="r" b="b"/>
                <a:pathLst>
                  <a:path w="34254" h="54816">
                    <a:moveTo>
                      <a:pt x="0" y="54816"/>
                    </a:moveTo>
                    <a:lnTo>
                      <a:pt x="34254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530036" y="2563475"/>
                <a:ext cx="34242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34242" h="54769">
                    <a:moveTo>
                      <a:pt x="0" y="0"/>
                    </a:moveTo>
                    <a:lnTo>
                      <a:pt x="34242" y="5476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589544" y="2468166"/>
                <a:ext cx="34302" cy="54888"/>
              </a:xfrm>
              <a:custGeom>
                <a:avLst/>
                <a:gdLst/>
                <a:ahLst/>
                <a:cxnLst/>
                <a:rect l="l" t="t" r="r" b="b"/>
                <a:pathLst>
                  <a:path w="34302" h="54888">
                    <a:moveTo>
                      <a:pt x="0" y="0"/>
                    </a:moveTo>
                    <a:lnTo>
                      <a:pt x="34302" y="5488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9" name="Rectangle 19"/>
            <p:cNvSpPr/>
            <p:nvPr/>
          </p:nvSpPr>
          <p:spPr>
            <a:xfrm>
              <a:off x="685800" y="30670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3742" y="30165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ตรวจสิ่งที่พิสูจน์ได้จากเอกสาร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34099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3742" y="3359468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กฎ HANDOFF-001 ถึง HANDOFF-014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" y="37528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742" y="3702368"/>
              <a:ext cx="24654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อ่านเฉพาะสิ่งที่ผู้เขียนประกาศไว้ แล้วเช็คว่าครบและสอดคล้องกันไหม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4324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3742" y="4273868"/>
              <a:ext cx="2984087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ตัดสินไม่ได้ว่ารูปถ่ายรถคือข้อมูลส่วนบุคคล และไม่พยายามจะตัดสิน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2286000"/>
            <a:ext cx="5219700" cy="2480501"/>
            <a:chOff x="6286500" y="2286000"/>
            <a:chExt cx="5219700" cy="2480501"/>
          </a:xfrm>
        </p:grpSpPr>
        <p:sp>
          <p:nvSpPr>
            <p:cNvPr id="28" name="Rectangle 28"/>
            <p:cNvSpPr/>
            <p:nvPr/>
          </p:nvSpPr>
          <p:spPr>
            <a:xfrm>
              <a:off x="6286500" y="2286000"/>
              <a:ext cx="5219700" cy="49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5956" y="2415540"/>
              <a:ext cx="3256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Layer 2 — Semantic review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1046619" y="2471738"/>
              <a:ext cx="226218" cy="190499"/>
              <a:chOff x="11046619" y="2471738"/>
              <a:chExt cx="226218" cy="19049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9962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46619" y="2471738"/>
                <a:ext cx="21106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1062" h="142875">
                    <a:moveTo>
                      <a:pt x="107156" y="142875"/>
                    </a:moveTo>
                    <a:cubicBezTo>
                      <a:pt x="103251" y="142875"/>
                      <a:pt x="99393" y="142673"/>
                      <a:pt x="95607" y="142280"/>
                    </a:cubicBezTo>
                    <a:cubicBezTo>
                      <a:pt x="57841" y="138327"/>
                      <a:pt x="25956" y="114717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48411" y="0"/>
                      <a:pt x="183047" y="22062"/>
                      <a:pt x="211062" y="6617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189494" y="25788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251406" y="2640806"/>
                <a:ext cx="21431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21431" h="21431">
                    <a:moveTo>
                      <a:pt x="0" y="0"/>
                    </a:moveTo>
                    <a:lnTo>
                      <a:pt x="21431" y="21431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6286500" y="30670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4442" y="30165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ตรวจว่าสัญญาทั้งชุดสมเหตุสมผลไหม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86500" y="34099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4442" y="3359468"/>
              <a:ext cx="25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อ่านผ่าน 12 เลนส์ โดย AI หรือคน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86500" y="37528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4442" y="3702368"/>
              <a:ext cx="2762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บันทึกเป็น HANDOFF-REVIEW.json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4324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84442" y="4273868"/>
              <a:ext cx="209297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เป็นหลักฐานที่ยังไม่ได้รับรอง ไม่ใช่การอนุมัติ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8942" y="4997768"/>
            <a:ext cx="8900655" cy="606933"/>
            <a:chOff x="678942" y="4997768"/>
            <a:chExt cx="8900655" cy="606933"/>
          </a:xfrm>
        </p:grpSpPr>
        <p:sp>
          <p:nvSpPr>
            <p:cNvPr id="44" name="TextBox 44"/>
            <p:cNvSpPr txBox="1"/>
            <p:nvPr/>
          </p:nvSpPr>
          <p:spPr>
            <a:xfrm>
              <a:off x="678942" y="4997768"/>
              <a:ext cx="3687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ทำไมถึงตั้งใจไม่ฝังกฎเชิงโดเมนลงไปในเครื่อง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942" y="5340668"/>
              <a:ext cx="8900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"a validator that guesses wrong is worse than one that stays quiet — it teaches people to ignore it"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" y="5810250"/>
            <a:ext cx="10820400" cy="552450"/>
            <a:chOff x="685800" y="5810250"/>
            <a:chExt cx="10820400" cy="552450"/>
          </a:xfrm>
        </p:grpSpPr>
        <p:sp>
          <p:nvSpPr>
            <p:cNvPr id="47" name="Rectangle 47"/>
            <p:cNvSpPr/>
            <p:nvPr/>
          </p:nvSpPr>
          <p:spPr>
            <a:xfrm>
              <a:off x="685800" y="5810250"/>
              <a:ext cx="108204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3742" y="6007418"/>
              <a:ext cx="1003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ใครปิด finding ได้: AI ปิดได้เฉพาะสถานะ resolved — เลนส์ privacy และ environment ต้องให้คนปิด บังคับด้วยกฎ HANDOFF-010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72674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เลนส์ที่ใช้อ่านว่าสัญญานี้ทำได้จริงไหม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9704" y="2171700"/>
            <a:ext cx="3454146" cy="943356"/>
            <a:chOff x="679704" y="2171700"/>
            <a:chExt cx="3454146" cy="943356"/>
          </a:xfrm>
        </p:grpSpPr>
        <p:sp>
          <p:nvSpPr>
            <p:cNvPr id="7" name="Line 7"/>
            <p:cNvSpPr/>
            <p:nvPr/>
          </p:nvSpPr>
          <p:spPr>
            <a:xfrm>
              <a:off x="685800" y="21717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70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704" y="2461260"/>
              <a:ext cx="1844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value_and_scope_slice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689860"/>
              <a:ext cx="18181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ขอบเขตที่ตัดมา ส่งมอบคุณค่าที่ milestone ต้องโชว์ไหม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56354" y="2171700"/>
            <a:ext cx="3454146" cy="943356"/>
            <a:chOff x="4356354" y="2171700"/>
            <a:chExt cx="3454146" cy="943356"/>
          </a:xfrm>
        </p:grpSpPr>
        <p:sp>
          <p:nvSpPr>
            <p:cNvPr id="12" name="Line 12"/>
            <p:cNvSpPr/>
            <p:nvPr/>
          </p:nvSpPr>
          <p:spPr>
            <a:xfrm>
              <a:off x="4362450" y="21717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635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56354" y="2461260"/>
              <a:ext cx="1623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capability_lifecycle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6354" y="2689860"/>
              <a:ext cx="2023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แต่ละความสามารถครบวงจรไหม ไม่ใช่แค่ happy path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33004" y="2171700"/>
            <a:ext cx="3473196" cy="943356"/>
            <a:chOff x="8033004" y="2171700"/>
            <a:chExt cx="3473196" cy="943356"/>
          </a:xfrm>
        </p:grpSpPr>
        <p:sp>
          <p:nvSpPr>
            <p:cNvPr id="17" name="Line 17"/>
            <p:cNvSpPr/>
            <p:nvPr/>
          </p:nvSpPr>
          <p:spPr>
            <a:xfrm>
              <a:off x="8039100" y="21717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3300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3004" y="2461260"/>
              <a:ext cx="2268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data_cardinality_and_units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3004" y="2689860"/>
              <a:ext cx="203911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entity จำนวน และหน่วย รองรับ use case ที่ประกาศไว้ไหม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3105150"/>
            <a:ext cx="3454146" cy="943356"/>
            <a:chOff x="679704" y="3105150"/>
            <a:chExt cx="3454146" cy="943356"/>
          </a:xfrm>
        </p:grpSpPr>
        <p:sp>
          <p:nvSpPr>
            <p:cNvPr id="22" name="Line 22"/>
            <p:cNvSpPr/>
            <p:nvPr/>
          </p:nvSpPr>
          <p:spPr>
            <a:xfrm>
              <a:off x="685800" y="31051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3394710"/>
              <a:ext cx="2641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state_transitions_and_rollback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704" y="3623310"/>
              <a:ext cx="2404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ทุก state machine มี guard terminal state และทางย้อนกลับไหม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56354" y="3105150"/>
            <a:ext cx="3454146" cy="943356"/>
            <a:chOff x="4356354" y="3105150"/>
            <a:chExt cx="3454146" cy="943356"/>
          </a:xfrm>
        </p:grpSpPr>
        <p:sp>
          <p:nvSpPr>
            <p:cNvPr id="27" name="Line 27"/>
            <p:cNvSpPr/>
            <p:nvPr/>
          </p:nvSpPr>
          <p:spPr>
            <a:xfrm>
              <a:off x="4362450" y="31051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5635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56354" y="3394710"/>
              <a:ext cx="2522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concurrency_and_idempotency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56354" y="3623310"/>
              <a:ext cx="211531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เขียนพร้อมกัน retry และการจอง id ซ้ำ ระบุไว้หรือยัง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33004" y="3105150"/>
            <a:ext cx="3473196" cy="943356"/>
            <a:chOff x="8033004" y="3105150"/>
            <a:chExt cx="3473196" cy="943356"/>
          </a:xfrm>
        </p:grpSpPr>
        <p:sp>
          <p:nvSpPr>
            <p:cNvPr id="32" name="Line 32"/>
            <p:cNvSpPr/>
            <p:nvPr/>
          </p:nvSpPr>
          <p:spPr>
            <a:xfrm>
              <a:off x="8039100" y="31051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3300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3394710"/>
              <a:ext cx="2497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dependencies_and_build_order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33004" y="3623310"/>
              <a:ext cx="16047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ลำดับ build ที่ประกาศไว้ รันตามลำดับนั้นได้จริงไหม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4038600"/>
            <a:ext cx="3454146" cy="943356"/>
            <a:chOff x="679704" y="4038600"/>
            <a:chExt cx="3454146" cy="943356"/>
          </a:xfrm>
        </p:grpSpPr>
        <p:sp>
          <p:nvSpPr>
            <p:cNvPr id="37" name="Line 37"/>
            <p:cNvSpPr/>
            <p:nvPr/>
          </p:nvSpPr>
          <p:spPr>
            <a:xfrm>
              <a:off x="685800" y="40386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" y="4328160"/>
              <a:ext cx="2013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ownership_and_capacity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" y="4556760"/>
              <a:ext cx="199339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ทุกสายงานมีเจ้าของเป็นชื่อคน มี integrator และกำลังคนไหม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56354" y="4038600"/>
            <a:ext cx="3454146" cy="943356"/>
            <a:chOff x="4356354" y="4038600"/>
            <a:chExt cx="3454146" cy="943356"/>
          </a:xfrm>
        </p:grpSpPr>
        <p:sp>
          <p:nvSpPr>
            <p:cNvPr id="42" name="Line 42"/>
            <p:cNvSpPr/>
            <p:nvPr/>
          </p:nvSpPr>
          <p:spPr>
            <a:xfrm>
              <a:off x="4362450" y="40386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35635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56354" y="4328160"/>
              <a:ext cx="2497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acceptance_seed_reachability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56354" y="4556760"/>
              <a:ext cx="21610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 acceptance case ไปถึงได้ จาก seed data ที่มีไหม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33004" y="4038600"/>
            <a:ext cx="3473196" cy="943356"/>
            <a:chOff x="8033004" y="4038600"/>
            <a:chExt cx="3473196" cy="943356"/>
          </a:xfrm>
        </p:grpSpPr>
        <p:sp>
          <p:nvSpPr>
            <p:cNvPr id="47" name="Line 47"/>
            <p:cNvSpPr/>
            <p:nvPr/>
          </p:nvSpPr>
          <p:spPr>
            <a:xfrm>
              <a:off x="8039100" y="40386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3300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33004" y="4328160"/>
              <a:ext cx="2471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automated_manual_test_split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33004" y="4556760"/>
              <a:ext cx="214579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แต่ละเคสระบุว่า automated หรือ manual พร้อม runner ไหม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79704" y="4972050"/>
            <a:ext cx="3454146" cy="943356"/>
            <a:chOff x="679704" y="4972050"/>
            <a:chExt cx="3454146" cy="943356"/>
          </a:xfrm>
        </p:grpSpPr>
        <p:sp>
          <p:nvSpPr>
            <p:cNvPr id="52" name="Line 52"/>
            <p:cNvSpPr/>
            <p:nvPr/>
          </p:nvSpPr>
          <p:spPr>
            <a:xfrm>
              <a:off x="685800" y="49720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970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981450" y="50863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9704" y="5261610"/>
              <a:ext cx="2692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privacy_and_data_classification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9704" y="5490210"/>
              <a:ext cx="20848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ข้อมูล ไฟล์ และ free text มีการ ตัดสินชั้นข้อมูลครบไหม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356354" y="4972050"/>
            <a:ext cx="3454146" cy="943356"/>
            <a:chOff x="4356354" y="4972050"/>
            <a:chExt cx="3454146" cy="943356"/>
          </a:xfrm>
        </p:grpSpPr>
        <p:sp>
          <p:nvSpPr>
            <p:cNvPr id="58" name="Line 58"/>
            <p:cNvSpPr/>
            <p:nvPr/>
          </p:nvSpPr>
          <p:spPr>
            <a:xfrm>
              <a:off x="4362450" y="49720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5635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58100" y="50863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356354" y="5261610"/>
              <a:ext cx="3090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environment_and_device_constraints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56354" y="5490210"/>
              <a:ext cx="1642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วิธีเสิร์ฟรองรับอุปกรณ์และ runtime ที่ประกาศไว้ไหม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033004" y="4972050"/>
            <a:ext cx="3473196" cy="943356"/>
            <a:chOff x="8033004" y="4972050"/>
            <a:chExt cx="3473196" cy="943356"/>
          </a:xfrm>
        </p:grpSpPr>
        <p:sp>
          <p:nvSpPr>
            <p:cNvPr id="64" name="Line 64"/>
            <p:cNvSpPr/>
            <p:nvPr/>
          </p:nvSpPr>
          <p:spPr>
            <a:xfrm>
              <a:off x="8039100" y="49720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3300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33004" y="5261610"/>
              <a:ext cx="2938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demo_startup_reset_and_recovery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33004" y="5490210"/>
              <a:ext cx="17800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เดโมมีทางเริ่ม รีเซ็ต ลดทอน และกู้คืนไหม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85800" y="6118860"/>
            <a:ext cx="8703829" cy="234696"/>
            <a:chOff x="685800" y="6118860"/>
            <a:chExt cx="8703829" cy="234696"/>
          </a:xfrm>
        </p:grpSpPr>
        <p:sp>
          <p:nvSpPr>
            <p:cNvPr id="69" name="Rectangle 69"/>
            <p:cNvSpPr/>
            <p:nvPr/>
          </p:nvSpPr>
          <p:spPr>
            <a:xfrm>
              <a:off x="685800" y="61531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4504" y="6118860"/>
              <a:ext cx="8405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เลนส์ 10 และ 11 AI ปิด finding เองไม่ได้ ต้องให้คนตัดสิน · ทุก finding ต้องอ้างหลักฐาน — finding ที่ไม่มีหลักฐานคือความเห็น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80020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ความพร้อมรายงานเป็นหกด่าน ไม่ใช่ค่าเดียว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6656" y="2186940"/>
            <a:ext cx="4390644" cy="3595116"/>
            <a:chOff x="676656" y="2186940"/>
            <a:chExt cx="4390644" cy="3595116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218694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หกด่านความพร้อม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781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730818"/>
              <a:ext cx="1287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Contract Valid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162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3742" y="3111818"/>
              <a:ext cx="248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Start Development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543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492818"/>
              <a:ext cx="1688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Integrate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924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3873818"/>
              <a:ext cx="127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Demo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4305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254818"/>
              <a:ext cx="1247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for UAT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686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42" y="4635818"/>
              <a:ext cx="158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for Release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49911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5128260"/>
              <a:ext cx="255727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แต่ละด่านมีสามค่า: true / false / null null สำคัญ เพราะ "ยังไม่มีการรีวิว" ไม่เท่ากับ "ไม่มี finding"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24856" y="2186940"/>
            <a:ext cx="5935873" cy="3118866"/>
            <a:chOff x="5324856" y="2186940"/>
            <a:chExt cx="5935873" cy="3118866"/>
          </a:xfrm>
        </p:grpSpPr>
        <p:sp>
          <p:nvSpPr>
            <p:cNvPr id="23" name="TextBox 23"/>
            <p:cNvSpPr txBox="1"/>
            <p:nvPr/>
          </p:nvSpPr>
          <p:spPr>
            <a:xfrm>
              <a:off x="5324856" y="218694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คะแนน 7 มิติ รวม 100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398366" y="2667000"/>
              <a:ext cx="5862363" cy="2638806"/>
              <a:chOff x="5398366" y="2667000"/>
              <a:chExt cx="5862363" cy="2638806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8096250" y="2667000"/>
                <a:ext cx="952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90800">
                    <a:moveTo>
                      <a:pt x="0" y="0"/>
                    </a:moveTo>
                    <a:lnTo>
                      <a:pt x="0" y="25908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238895" y="2785110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Engineering contract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096250" y="2762250"/>
                <a:ext cx="2857500" cy="209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061954" y="2785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86317" y="3166110"/>
                <a:ext cx="21255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Source and scope integrity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096250" y="3143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347579" y="3166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932064" y="3547110"/>
                <a:ext cx="19797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Requirement traceability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8096250" y="3524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347579" y="3547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86533" y="3928110"/>
                <a:ext cx="21253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Acceptance and testability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096250" y="3905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347579" y="3928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583890" y="4309110"/>
                <a:ext cx="23279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Dependency, owner, capacity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8096250" y="4286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347579" y="4309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398366" y="4690110"/>
                <a:ext cx="25134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Security, privacy, environment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096250" y="4667250"/>
                <a:ext cx="1428750" cy="209550"/>
              </a:xfrm>
              <a:prstGeom prst="rect">
                <a:avLst/>
              </a:prstGeom>
              <a:solidFill>
                <a:srgbClr val="DEDDD8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633204" y="4690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439037" y="5071110"/>
                <a:ext cx="24728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Demo and operational readiness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096250" y="5048250"/>
                <a:ext cx="1428750" cy="209550"/>
              </a:xfrm>
              <a:prstGeom prst="rect">
                <a:avLst/>
              </a:prstGeom>
              <a:solidFill>
                <a:srgbClr val="DEDDD8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633204" y="5071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334000" y="5448300"/>
            <a:ext cx="6172200" cy="933450"/>
            <a:chOff x="5334000" y="5448300"/>
            <a:chExt cx="6172200" cy="933450"/>
          </a:xfrm>
        </p:grpSpPr>
        <p:sp>
          <p:nvSpPr>
            <p:cNvPr id="48" name="Rectangle 48"/>
            <p:cNvSpPr/>
            <p:nvPr/>
          </p:nvSpPr>
          <p:spPr>
            <a:xfrm>
              <a:off x="5334000" y="5448300"/>
              <a:ext cx="61722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56504" y="5566410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เพดานคะแนนสี่ข้อ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56504" y="5795010"/>
              <a:ext cx="57805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deterministic FAIL ใด ๆ → BLOCKED · review หายหรือเก่า → สูงสุด 70 ไม่มีเจ้าของเป็นชื่อคน หรือลำดับ build รันไม่ได้ → 69 · critical ที่บล็อก before_build → 49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76656" y="6054090"/>
            <a:ext cx="3640111" cy="352044"/>
            <a:chOff x="676656" y="6054090"/>
            <a:chExt cx="3640111" cy="352044"/>
          </a:xfrm>
        </p:grpSpPr>
        <p:sp>
          <p:nvSpPr>
            <p:cNvPr id="52" name="TextBox 52"/>
            <p:cNvSpPr txBox="1"/>
            <p:nvPr/>
          </p:nvSpPr>
          <p:spPr>
            <a:xfrm>
              <a:off x="676656" y="6054090"/>
              <a:ext cx="364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score is not an approval.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พิสูจน์ว่าใช้ได้จริง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4732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สองโปรเจกต์ ผ่านทุกด่านเท่ากัน — แต่หนึ่งในนั้นสร้างไม่ได้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79704" y="2175510"/>
            <a:ext cx="10832592" cy="2348865"/>
            <a:chOff x="679704" y="2175510"/>
            <a:chExt cx="10832592" cy="2348865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217551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5604" y="2175510"/>
              <a:ext cx="1275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broken-project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37504" y="2175510"/>
              <a:ext cx="1140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fixed-project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73896" y="2175510"/>
              <a:ext cx="103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ราคาที่ต้องจ่าย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704" y="26136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5604" y="2613660"/>
              <a:ext cx="3224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build: 4·D-001 2·D-002 3·D-003 1·D-004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7504" y="2613660"/>
              <a:ext cx="2580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เรียง 1 / 2 / 3 / 4 ตาม dependency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5064" y="26136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เสียวันแรกสองคน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2876550"/>
              <a:ext cx="10820400" cy="400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9704" y="30137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65604" y="3013710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กล้องหลัง — environment decision ยัง open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37504" y="3013710"/>
              <a:ext cx="2445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HTTPS ผ่าน proxy ที่แท็บเล็ตเชื่อถือ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45064" y="30137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พังบนเครื่องเดโม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704" y="34137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5604" y="341376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รูปชิ้นส่วน sensitive=yes ช่องจัดชั้นว่าง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7504" y="34137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internal-only, stays on site network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56215" y="34137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ขัดกับนโยบายข้อมูล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3676650"/>
              <a:ext cx="10820400" cy="400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38138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5604" y="3813810"/>
              <a:ext cx="2840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AC-002 automated — ช่อง fixture ว่าง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37504" y="3813810"/>
              <a:ext cx="2644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fixture: parts-demo part P-0007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33914" y="38138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เคสไม่เคยถูกรัน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42138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5604" y="4213860"/>
              <a:ext cx="1727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เจ้าของงาน = Dev Team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37504" y="4213860"/>
              <a:ext cx="1616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เจ้าของงาน = R. Silva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33914" y="421386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ไม่มีใครเริ่มงาน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85800" y="4781550"/>
            <a:ext cx="6096000" cy="1667256"/>
            <a:chOff x="685800" y="4781550"/>
            <a:chExt cx="6096000" cy="1667256"/>
          </a:xfrm>
        </p:grpSpPr>
        <p:sp>
          <p:nvSpPr>
            <p:cNvPr id="36" name="Rectangle 36"/>
            <p:cNvSpPr/>
            <p:nvPr/>
          </p:nvSpPr>
          <p:spPr>
            <a:xfrm>
              <a:off x="685800" y="4781550"/>
              <a:ext cx="60960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8304" y="4918710"/>
              <a:ext cx="3890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Verdict: READY TO BUILD, NOT READY TO DEMO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304" y="5185410"/>
              <a:ext cx="1489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Contract Valid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304" y="5385435"/>
              <a:ext cx="2553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Ready to Start Development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304" y="5585460"/>
              <a:ext cx="1845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Ready to Integrate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5785485"/>
              <a:ext cx="2662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NO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Ready to Demo / UAT / Release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304" y="5985510"/>
              <a:ext cx="2140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blocked by HF-005, OA-001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304" y="6214110"/>
              <a:ext cx="1298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Score: 92 / 100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041642" y="4902518"/>
            <a:ext cx="3632168" cy="1635633"/>
            <a:chOff x="7041642" y="4902518"/>
            <a:chExt cx="3632168" cy="1635633"/>
          </a:xfrm>
        </p:grpSpPr>
        <p:sp>
          <p:nvSpPr>
            <p:cNvPr id="45" name="TextBox 45"/>
            <p:cNvSpPr txBox="1"/>
            <p:nvPr/>
          </p:nvSpPr>
          <p:spPr>
            <a:xfrm>
              <a:off x="7041642" y="4902518"/>
              <a:ext cx="353701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บล็อกเกอร์สองตัวมาจากคนละเอกสาร semantic review เจออุปกรณ์เดโมที่ทีมไม่ได้ เป็นเจ้าของ ส่วน HANDOFF.md ประกาศใบรับรอง ที่ยังไม่ได้ติดตั้งบนเครื่องนั้น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1642" y="6026468"/>
              <a:ext cx="36321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คะแนน 92 ไม่ใช่ 100 เพราะโปรเจกต์ที่เอกสาร ตัวเองบอกว่าเดโมไม่ได้ ไม่ควรอ่านว่าสมบูรณ์แบบ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113035" y="657606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xiom_pmo_overview">
  <a:themeElements>
    <a:clrScheme name="axiom_pmo_overview">
      <a:dk1>
        <a:srgbClr val="3A3F45"/>
      </a:dk1>
      <a:lt1>
        <a:srgbClr val="FFFFFF"/>
      </a:lt1>
      <a:dk2>
        <a:srgbClr val="1F497D"/>
      </a:dk2>
      <a:lt2>
        <a:srgbClr val="F2F1ED"/>
      </a:lt2>
      <a:accent1>
        <a:srgbClr val="14161A"/>
      </a:accent1>
      <a:accent2>
        <a:srgbClr val="D6360B"/>
      </a:accent2>
      <a:accent3>
        <a:srgbClr val="2E6B5E"/>
      </a:accent3>
      <a:accent4>
        <a:srgbClr val="14161A"/>
      </a:accent4>
      <a:accent5>
        <a:srgbClr val="B36A00"/>
      </a:accent5>
      <a:accent6>
        <a:srgbClr val="FAFAF8"/>
      </a:accent6>
      <a:hlink>
        <a:srgbClr val="D6360B"/>
      </a:hlink>
      <a:folHlink>
        <a:srgbClr val="2E6B5E"/>
      </a:folHlink>
    </a:clrScheme>
    <a:fontScheme name="axiom_pmo_overview">
      <a:maj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xiom_pmo_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2026-07-26T09:06:20Z</dcterms:created>
  <dcterms:modified xsi:type="dcterms:W3CDTF">2026-07-26T09:06:20Z</dcterms:modified>
  <cp:category/>
  <cp:contentStatus/>
</cp:coreProperties>
</file>