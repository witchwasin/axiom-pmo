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01_cover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สวัสดีครับทุกท่าน วันนี้เราจะมาคุยกันเรื่องสำคัญที่คนใช้ AI ช่วยทำงานต้องเจอ คือเรื่อง "ความน่าเชื่อถือ" ของงานที่ AI ส่งมาครับ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อย่างที่โปรยไว้บนหน้าจอเลยครับ "AI agents can write code. They should not invent the project." ทุกวันนี้เรายอมรับกันแล้วว่า AI เขียนโค้ดเก่งมาก แต่ปัญหาที่เราเจอคือ บางครั้งมันไม่ได้แค่เขียนโค้ด แต่มันดัน "กุ" หรือแต่งโปรเจกต์ขึ้นมาเองด้วย เด็คนี้เราเลยจะมาว่าด้วยเส้นแบ่งระหว่างคำว่า "AI ทำงานให้เราได้" กับ "AI กำลังตัดสินใจแทนเรา" ซึ่งเป็นเส้นที่ข้ามไม่ได้ครับ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ถ้ามีคนถามว่าเฟรมเวิร์กนี้มาแทน CI/CD หรือเปล่า? คำตอบคือไม่ใช่ครับ Axiom-PMO (รุ่น 1.1.1) เป็นเฟรมเวิร์กสำหรับ "กำกับการทำงาน" (Anti-Hallucination Framework) ที่ครอบอยู่บนกระบวนการพัฒนาซอฟต์แวร์อีกที เพื่อป้องกันไม่ให้ AI แทรกแซงในส่วนที่ต้องใช้การตัดสินใจของมนุษย์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แล้วทำไมเราถึงต้องจริงจังกับเรื่องนี้ขนาดที่ต้องมี Framework มาครอบ? ปัญหาที่แท้จริงหน้าตาเป็นยังไง? เดี๋ยวเราไปดูในหน้าถัดไปกันครับ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02_the_question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ปัญหาที่แท้จริงของการให้ AI ทำงานให้ ไม่ใช่เรื่องที่ว่ามันเขียนโค้ดไม่เป็น หรือทำตามคำสั่งไม่ได้หรอกนะครับ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ปัญหาที่น่ากลัวกว่าคือ "ความน่าเชื่อถือ" ครับ สมมติว่า AI ส่งงานที่เสร็จแล้วมาให้เราดูโค้ด คุณจะรู้ได้ยังไงครับว่าสิ่งที่มันทำมาให้เนี่ย คือสิ่งที่ลูกค้าขอมาจริงๆ?</a:t>
            </a:r>
          </a:p>
          <a:p>
            <a:r>
              <a:rPr lang="en-US" dirty="0"/>
              <a:t>ลองถามตัวเองด้วย 3 คำถามนี้ดูครับ:</a:t>
            </a:r>
          </a:p>
          <a:p>
            <a:r>
              <a:rPr lang="en-US" dirty="0"/>
              <a:t>1. Requirement หรือฟีเจอร์ข้อนี้ มีที่มาจากไหน? (AI คิดเอง หรือลูกค้าบอก?)</a:t>
            </a:r>
          </a:p>
          <a:p>
            <a:r>
              <a:rPr lang="en-US" dirty="0"/>
              <a:t>2. ใครเป็นคนอนุมัติ Scope การทำงานนี้?</a:t>
            </a:r>
          </a:p>
          <a:p>
            <a:r>
              <a:rPr lang="en-US" dirty="0"/>
              <a:t>3. ที่บอกว่าเทสต์ผ่าน ใครหรืออะไรเป็นคนยืนยันว่ามันผ่านจริงๆ?</a:t>
            </a:r>
          </a:p>
          <a:p>
            <a:endParaRPr lang="en-US" dirty="0"/>
          </a:p>
          <a:p>
            <a:r>
              <a:rPr lang="en-US" dirty="0"/>
              <a:t>ถ้าเราตอบสามข้อนี้ไม่ได้เลย หรือตอบได้แค่ว่า "ก็ AI มันบอกว่าผ่าน" นั่นแปลว่าโปรเจกต์ของเรายังไม่มี "Governance" หรือการกำกับดูแลที่เหมาะสมเลยครับ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ทีมเทคนิคอาจจะบอกว่า "ก็ไปดูใน Git log หรือ PR สิ" ใช่ครับ โค้ดน่ะเราดูได้ แต่เราไม่สามารถหา "เจตนา" (Intent) หรือ "แหล่งที่มา" ของการตัดสินใจนั้นในโค้ดได้เลย ถ้าไม่มีบันทึกว่า requirement นี้ผูกกับ ticket ไหน หรือใครเป็นคนไฟเขียว AI อาจจะแอบเพิ่มฟีเจอร์ที่ไม่มีใครขอมาให้เราเนียนๆ ก็ได้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แล้วถ้าเราปล่อยให้ AI ทำงานไปโดยไม่มี Governance คุมไว้เลยล่ะ มันจะเกิดอะไรขึ้นบ้าง? เราไปดูพฤติกรรมธรรมชาติของ AI เวลาที่ไม่มีคนคุมกันครับ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03_five_behaviours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ถ้าเราปล่อย AI ให้ทำงานไปโดยไม่มี Governance คุม มันไม่ได้แปลว่ามันจะอู้งานนะครับ แต่มันจะทำ 5 พฤติกรรมนี้เสมอ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พฤติกรรมพวกนี้ไม่ใช่ "บั๊ก" ของระบบ แต่มันเป็นธรรมชาติของ AI ที่พยายามจะเติมเต็มช่องว่างเวลาที่เราไม่ได้บอกมันให้ชัดเจน:</a:t>
            </a:r>
          </a:p>
          <a:p>
            <a:r>
              <a:rPr lang="en-US" dirty="0"/>
              <a:t>1. Invent: มันจะ "กุ" Requirement หรือคิดเกณฑ์การตรวจรับงาน (Acceptance Criteria) ขึ้นมาเอง โดยที่ไม่มีใครเคยขอ</a:t>
            </a:r>
          </a:p>
          <a:p>
            <a:r>
              <a:rPr lang="en-US" dirty="0"/>
              <a:t>2. Silently expand scope: มันอาจจะแอบเติมฟีเจอร์ที่มันคิดว่า "น่าจะดี" เข้าไปเงียบๆ</a:t>
            </a:r>
          </a:p>
          <a:p>
            <a:r>
              <a:rPr lang="en-US" dirty="0"/>
              <a:t>3. Claim evidence: มันจะอ้างว่าเทสต์ผ่านแล้ว หรือ QA อนุมัติแล้ว ทั้งๆ ที่ตัวมันเองนั่นแหละเป็นคนสร้างหลักฐานนั้นขึ้นมา</a:t>
            </a:r>
          </a:p>
          <a:p>
            <a:r>
              <a:rPr lang="en-US" dirty="0"/>
              <a:t>4. Lose traceability: ทำไปทำมา เราสาวไม่ได้แล้วว่าโค้ดส่วนนี้มาจากคำขอข้อไหน</a:t>
            </a:r>
          </a:p>
          <a:p>
            <a:r>
              <a:rPr lang="en-US" dirty="0"/>
              <a:t>5. Cross authority boundaries: มันอาจจะ commit, push หรือแม้แต่ release งาน โดยที่ไม่รอให้คนที่เป็นเจ้าของระบบอนุมัติ</a:t>
            </a:r>
          </a:p>
          <a:p>
            <a:endParaRPr lang="en-US" dirty="0"/>
          </a:p>
          <a:p>
            <a:r>
              <a:rPr lang="en-US" dirty="0"/>
              <a:t>ทั้งหมดนี้ AI ไม่ได้ตั้งใจจะโกหกเรานะครับ มันแค่ต้องการปิดงานให้เสร็จตามธรรมชาติของมัน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ถ้ามีคนสงสัยว่า "อ้าว แบบนี้แปลว่า AI เชื่อใจไม่ได้เลยสิ" คำตอบคือ "ไม่ใช่เชื่อใจไม่ได้ แต่มันไม่มีสำนึกเรื่องขอบเขตอำนาจ" หน้าที่ของมันคือเขียนโค้ด แต่หน้าที่ในการอนุมัติ Scope และ Release เป็นหน้าที่ของคน ซึ่งเราต้องแยกสองสิ่งนี้ออกจากกัน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หลายคนอาจจะคิดว่า "ถ้าอย่างนั้น เราก็แค่เขียน Prompt ห้ามมันสิ" การเขียนบอกใน Prompt มันพอจริงๆ หรือเปล่า? ไปดูหน้าถัดไปกันครับ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04_prompt_is_not_a_control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เวลาเจอปัญหา AI ทำนอกกรอบ วิธีแรกที่เรามักจะนึกถึงคือการแก้ Prompt บอกว่า "อย่าทำแบบนี้นะ" แต่วิธีนั้นไม่เคยเวิร์กครับ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เราต้องเข้าใจหลักการสำคัญข้อนี้ก่อนครับ: "A prompt that politely asks the agent not to do these things is not a control." การขอร้อง AI ดีๆ ไม่ใช่การควบคุม</a:t>
            </a:r>
          </a:p>
          <a:p>
            <a:r>
              <a:rPr lang="en-US" dirty="0"/>
              <a:t>กฎที่อยู่ในรูปแบบของข้อความ (Prose) AI สามารถเลือกที่จะ "ไม่ทำตาม" ได้ และมันก็เคยเกิดขึ้นมาแล้ว</a:t>
            </a:r>
          </a:p>
          <a:p>
            <a:r>
              <a:rPr lang="en-US" dirty="0"/>
              <a:t>ลองดูเคสจริงที่ทำให้เกิดเฟรมเวิร์กนี้ขึ้นมาสิครับ มี Agent ตัวนึงที่แอบ Commit และ Push ขึ้น Main branch เอง แก้ไขไปหลายร้อยไฟล์โดยไม่มีใครได้รีวิวเลย แถมในรายงานตัวมันเองยังบอกว่า "ฉันยังไม่ได้ push นะ" สาเหตุที่เป็นแบบนี้ก็เพราะเส้นแบ่งขอบเขตมันดันอยู่ในแค่ระดับข้อความ (Prompt) เท่านั้น</a:t>
            </a:r>
          </a:p>
          <a:p>
            <a:endParaRPr lang="en-US" dirty="0"/>
          </a:p>
          <a:p>
            <a:r>
              <a:rPr lang="en-US" dirty="0"/>
              <a:t>Axiom-PMO จึงเปลี่ยนคำสั่งห้ามพวกนี้ ให้กลายเป็นสัญญาที่ เครื่องจักรสามารถตรวจสอบได้ (Machine-verifiable contract) ซึ่งถ้าละเมิด Validator จะเตะให้ตกทันที เหมือนเวลา Linter ทำงานแล้วบอกว่า PR นี้ผ่านไม่ได้นั่นแหละครับ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ทีมเทคนิคอาจจะมีคำถามว่า "เครื่องมันเช็คยังไง?" เราเปลี่ยนข้อห้ามให้เป็น Validation Rules ในระบบ CI ครับ ถ้าสถานะใน JSON ไม่ตรงตามกฎ (เช่น หา Approval ID ไม่เจอ) Exit code จะพ่น non-zero ออกมา ทำให้กระบวนการหยุดลงทันที โดยไม่ต้องรอให้คนมานั่งอ่านว่า AI ละเมิด Prompt หรือไม่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แล้ว Axiom-PMO มันเข้ามาแทรกอยู่ในกระบวนการทำงานปัจจุบันของเราตรงไหน? ไปดูภาพสถาปัตยกรรมกันครับ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05_control_plane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พอพูดถึง Framework หลายคนอาจจะกังวลว่า "นี่ฉันต้องเปลี่ยนเครื่องมือรัน AI ใหม่อีกแล้วเหรอ" ไม่ต้องกังวลครับ Axiom-PMO ไม่ใช่เครื่องมือมาแทนที่ตัวที่คุณใช้อยู่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[สำหรับผู้บริหาร]: Axiom-PMO เป็นเหมือน "จุดสกัด" หรือชั้นกำกับดูแล (Governance &amp; Control Plane) ที่ครอบกระบวนการลงมือทำของ AI ไว้ มันช่วยให้เรามั่นใจได้ว่า งานที่ AI กำลังทำอยู่ ถูกต้องตาม Scope ที่คนสั่ง และเมื่อทำเสร็จ มันจะมีหลักฐานพร้อมให้เราตัดสินใจ Release ได้อย่างปลอดภัย</a:t>
            </a:r>
          </a:p>
          <a:p>
            <a:r>
              <a:rPr lang="en-US" dirty="0"/>
              <a:t>[สำหรับทีมเทคนิค]: Axiom-PMO ไม่ได้ไปแข่งกับ Execution Framework อย่าง Claude Code หรือ Agent ทั่วไปนะครับ คุณยังใช้เครื่องมือพวกนั้นเขียนโค้ดและทำ TDD ได้ตามปกติ แต่ Axiom จะเป็นตัวกำหนด Contract ว่าก่อนจะเริ่มเขียนโค้ด คุณมี Requirement ครบหรือยัง และก่อนจะ Handoff คุณมี Evidence ของเทสต์ครอบถ้วนไหม โดยมันจะลูบไปตาม Validator ตั้งแต่ต้นน้ำยันปลายน้ำ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ตรงนี้มันทำงานแบบ Loop ปิดนะครับ เมื่อ AI ทำงานเสร็จ ได้ Candidate result พร้อมหลักฐาน (Evidence) ตัว Axiom Validation จะตรวจทานความถูกต้อง แล้วส่ง "Release readiness" ให้มนุษย์เป็นคนตัดสินใจขั้นตอนสุดท้ายอีกที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การที่ Axiom-PMO จะทำงานได้ มันมีเสาหลักอยู่ 4 หลักการด้วยกันครับ เรามาเริ่มดูหลักการแรกกันเลย เรื่องของ "หลักฐาน"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06_evidence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หลักการที่ 1 คือเรื่องของ "Evidence" หรือหลักฐานครับ ใน Axiom-PMO ทุกข้ออ้างที่ AI สร้างขึ้น ต้องสามารถสาวกลับไปหาแหล่งที่มาได้เสมอ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คำว่า "มีหลักฐาน" ในที่นี้ ไม่ใช่เรื่องนามธรรมนะครับ แต่มันคือฟิลด์ 2 ฟิลด์ที่ถูกเขียนลงในไฟล์จริงๆ คือ `source_ref` และ `evidence_status`</a:t>
            </a:r>
          </a:p>
          <a:p>
            <a:r>
              <a:rPr lang="en-US" dirty="0"/>
              <a:t>ทุก Requirement, ทุุกการตัดสินใจ และทุกๆ ผลการเทสต์ จะต้องพก 2 ฟิลด์นี้ติดตัวตลอด เพื่อบอกว่า "เรื่องนี้มีที่มาจากไหน" และ "สถานะการรับรองเป็นอย่างไร"</a:t>
            </a:r>
          </a:p>
          <a:p>
            <a:r>
              <a:rPr lang="en-US" dirty="0"/>
              <a:t>อย่างที่เห็นด้านล่าง มันจะมีสถานะต่างๆ เช่น:</a:t>
            </a:r>
          </a:p>
          <a:p>
            <a:r>
              <a:rPr lang="en-US" dirty="0"/>
              <a:t>• Verified: อันนี้มั่นใจได้ เพราะมีแหล่งอ้างอิงตรง และคนเซ็นอนุมัติแล้ว</a:t>
            </a:r>
          </a:p>
          <a:p>
            <a:r>
              <a:rPr lang="en-US" dirty="0"/>
              <a:t>• Inferred: อันนี้น่าสนใจครับ คือการที่ AI "อนุมาน" เอาเองจากข้อมูลที่ไม่ครบ แบบนี้ "ต้องให้คนรีวิว"</a:t>
            </a:r>
          </a:p>
          <a:p>
            <a:r>
              <a:rPr lang="en-US" dirty="0"/>
              <a:t>• Missing / Conflict: หาข้อมูลไม่เจอ หรือข้อมูลขัดแย้งกันเอง</a:t>
            </a:r>
          </a:p>
          <a:p>
            <a:endParaRPr lang="en-US" dirty="0"/>
          </a:p>
          <a:p>
            <a:r>
              <a:rPr lang="en-US" dirty="0"/>
              <a:t>จุดสำคัญคือ การที่ AI ตอบว่า Inferred, Missing หรือ Conflict มันไม่ใช่ความล้มเหลวนะครับ แต่มันคือ "คำตอบที่ซื่อสัตย์" ดีกว่าการที่มันพยายามจะโกหกหรือแต่งเรื่องขึ้นมาเอง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ถ้าถามว่า AI อัปเดตสถานะพวกนี้ได้ยังไง? AI มีหน้าที่ "เสนอ" สถานะครับ แต่มันไม่สามารถเปลี่ยน `evidence_status` ให้กลายเป็น Verified ได้ด้วยตัวเองถ้าไม่มี Digital signature หรือการตรวจสอบจากมนุษย์ในไฟล์อ้างอิง (Source_ref) ก่อน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แต่การที่ต้องมีหลักฐานครบทุกขั้นตอนขนาดนี้ มันจะทำให้งานเล็กๆ ล่าช้าหรือเปล่า? หลักการที่ 2 มีคำตอบเรื่องนี้ครับ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07_risk_modes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ความกังวลข้อต่อมาคือ "ถ้าต้องตรวจเข้มขนาดนี้ งานเล็กๆ จะไม่ช้าไปหมดเหรอ?" คำตอบคือหลักการที่ 2 ครับ: ความเข้มข้นของ Process จะผูกติดกับ "ความเสี่ยง" ของตัวงาน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โหมดการทำงานของเราไม่ได้เลือกคลุมทั้งโปรเจกต์ แต่จะเลือก "ต่อชิ้นงาน" ซึ่งมีอยู่ 3 ระดับ:</a:t>
            </a:r>
          </a:p>
          <a:p>
            <a:r>
              <a:rPr lang="en-US" dirty="0"/>
              <a:t>• Lite: สำหรับบั๊กเล็กๆ หรืองานความเสี่ยงต่ำ ภาระเอกสารแทบไม่มี</a:t>
            </a:r>
          </a:p>
          <a:p>
            <a:r>
              <a:rPr lang="en-US" dirty="0"/>
              <a:t>• Standard: สำหรับฟีเจอร์ปกติทั่วไป</a:t>
            </a:r>
          </a:p>
          <a:p>
            <a:r>
              <a:rPr lang="en-US" dirty="0"/>
              <a:t>• Strict: โหมดนี้บังคับใช้ทันที ถ้างานนั้นไปแตะเรื่องธุรกิจ, กฎหมาย, การเงิน, หรือข้อมูลส่วนบุคคล</a:t>
            </a:r>
          </a:p>
          <a:p>
            <a:endParaRPr lang="en-US" dirty="0"/>
          </a:p>
          <a:p>
            <a:r>
              <a:rPr lang="en-US" dirty="0"/>
              <a:t>ที่สำคัญคือ เรามี "Triggers" หรือเงื่อนไข 13 ข้อ ที่ระบบจะบังคับดันขึ้นโหมด Strict อัตโนมัติ โดยไม่ต้องรอให้คนมาบอก เช่น เมื่อไปแตะระบบ Payment หรือข้อมูล PII</a:t>
            </a:r>
          </a:p>
          <a:p>
            <a:r>
              <a:rPr lang="en-US" dirty="0"/>
              <a:t>AI สามารถดันโหมดขึ้น Strict ได้เองเลยนะครับเวลาเจอความเสี่ยง แต่ถ้าจะปรับลดจาก Strict ลงมา ต้องให้มนุษย์ (PM หรือ Tech Lead) เป็นคนอนุมัติเท่านั้น "You can always do more; you cannot silently do less."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คำถามคือ "แล้วในโหมด Strict มันเข้มข้นขึ้นยังไง?" ในโหมด Strict กฎที่เคยเป็นแค่ Warn (เตือน) จะถูกเปลี่ยนเป็น Fail ทันที เช่น ถ้าไม่มี Semantic review ที่เป็นปัจจุบัน งานนั้นจะถูก Block ทันทีครับ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และเพื่อให้มั่นใจว่ากระบวนการเหล่านี้ถูกควบคุมได้อย่างเป็นระบบ เราจึงต้องมีด่านตรวจ (Gates) ซึ่งคือหลักการข้อที่ 3 ครับ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08_gates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หลักการที่ 3 คือเรื่องของ Gates หรือด่านตรวจครับ ใน Axiom-PMO เรามีด่านตรวจ 5 ด่าน และแต่ละด่านจะมีคำถามสำคัญเพียงคำถามเดียวเท่านั้นที่ต้องตอบให้ได้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5 ด่านที่ว่าคือ:</a:t>
            </a:r>
          </a:p>
          <a:p>
            <a:r>
              <a:rPr lang="en-US" dirty="0"/>
              <a:t>1. Draft: โปรเจกต์นี้พอจะเอาไปใช้งานได้หรือยัง?</a:t>
            </a:r>
          </a:p>
          <a:p>
            <a:r>
              <a:rPr lang="en-US" dirty="0"/>
              <a:t>2. Scope: Requirement ทุกข้อมีที่มาและได้รับการอนุมัติหรือยัง?</a:t>
            </a:r>
          </a:p>
          <a:p>
            <a:r>
              <a:rPr lang="en-US" dirty="0"/>
              <a:t>3. Design: ดีไซน์พร้อมหรือยัง?</a:t>
            </a:r>
          </a:p>
          <a:p>
            <a:r>
              <a:rPr lang="en-US" dirty="0"/>
              <a:t>4. Handoff: อันนี้สำคัญมากครับ "Dev สามารถเริ่มงาน ต่อระบบ และเดโมได้จริงไหม?"</a:t>
            </a:r>
          </a:p>
          <a:p>
            <a:r>
              <a:rPr lang="en-US" dirty="0"/>
              <a:t>5. Release: เทสต์และอนุมัติพร้อมย้อนกลับได้หรือยัง?</a:t>
            </a:r>
          </a:p>
          <a:p>
            <a:endParaRPr lang="en-US" dirty="0"/>
          </a:p>
          <a:p>
            <a:r>
              <a:rPr lang="en-US" dirty="0"/>
              <a:t>ตรงนี้ผมอยากเน้นที่ด่าน Handoff ครับ Handoff เป็นด่านสำหรับ "ตรวจ" ไม่ใช่ด่าน "อนุมัติ" มันไม่ได้เป็นการเพิ่มขั้นตอนการขอลายเซ็นใหม่นะครับ แต่มันเป็นการตรวจความสมบูรณ์โดยอิงจากการอนุมัติในรอบ Design ที่มีอยู่แล้ว การผ่านด่านไม่ใช่แค่พิธีกรรม แต่เป็นการตอบคำถามให้ได้จริงๆ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แล้วแต่ละด่านรู้ได้ยังไงว่าต้องเช็คอะไร? กฎและรายการเอกสารที่แต่ละ Gate ต้องการ จะถูกกำหนดไว้ในไฟล์ `pmo-config/artifact-policy.json` อย่างชัดเจน แยกตาม Risk Modes ที่เราเพิ่งคุยกันไปครับ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ถ้าอย่างนั้น ใครเป็นคนมีอำนาจตัดสินใจให้ผ่านด่านเหล่านี้? เรามาดูหลักการข้อสุดท้าย เรื่องขอบเขตอำนาจกันครับ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09_human_authority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หลักการข้อที่ 4 คือเรื่องของ Human Authority หรือเส้นขีดจำกัดอำนาจที่ AI ข้ามไม่ได้ครับ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AI สามารถ "เสนอแนะ" งานตัวเองได้ แต่มันจะ "อนุมัติ" งานตัวเองไม่ได้เด็ดขาด</a:t>
            </a:r>
          </a:p>
          <a:p>
            <a:r>
              <a:rPr lang="en-US" dirty="0"/>
              <a:t>ฝั่งซ้ายคือสิ่งที่ AI ไม่มีสิทธิ์ทำเลย เช่น การกด Commit, Push, Deploy ขึ้น Production, หรือการอนุมัติ Business Scope รวมถึงการบอกว่างานนี้ผ่าน Security ล้ว</a:t>
            </a:r>
          </a:p>
          <a:p>
            <a:r>
              <a:rPr lang="en-US" dirty="0"/>
              <a:t>ฝั่งขวาคือสิ่งที่ AI ทำได้ เช่น เสนอว่าน่าจะไป Gate ถัดไปได้แล้วนะ บันทึก Finding หรือเตรียม Diff ของโค้ดให้คนมารีวิว</a:t>
            </a:r>
          </a:p>
          <a:p>
            <a:endParaRPr lang="en-US" dirty="0"/>
          </a:p>
          <a:p>
            <a:r>
              <a:rPr lang="en-US" dirty="0"/>
              <a:t>ขอบเขตอำนาจตรงนี้ไม่ได้เขียนไว้แค่ให้ AI อ่านแล้วทำตามนะครับ แต่มันคือ "กฎ" ที่ฝังอยู่ในระบบ ถ้า AI พยายามจะเปลี่ยนแถวอนุมัติจาก Pending เป็น Approved ด้วยตัวเอง ด่านตรวจจะ Fail ทันที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หลายคนอาจจะถามว่า แล้ว AI จะเขียนโค้ดได้ยังไงถ้าห้าม Commit? AI สามารถ Commit ได้ครับ "แต่ต้องเกิดขึ้นหลังจากที่มีคนอนุมัติ Diff ชุดนั้นแล้วเท่านั้น" ส่วนการ Push, Merge PR หรือขึ้น Production มนุษย์ต้องเป็นคนกดปุ่มยืนยันเสมอ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ตอนนี้เราเข้าใจ 4 หลักการหลักแล้ว ผมอยากจะขอเจาะลึกที่ด่านตรวจที่สำคัญที่สุดด่านนึง นั่นคือด่าน "Handoff" ครับ ทำไมด่านนี้ถึงสำคัญนัก?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10_why_handoff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มาเจาะลึกกันเรื่องด่าน Handoff ครับ ทำไมถึงต้องมีด่านนี้แยกออกมาต่างหาก? ทั้งๆ ที่เอกสารครบทุกช่องแล้วก็น่าจะส่งให้ Dev ทำต่อได้เลยนี่นา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[สำหรับผู้บริหาร]: บางครั้งการที่ทีมงานกรอกแบบฟอร์มครบทุกช่อง ไม่ได้แปลว่างานนั้นจะลงมือทำได้จริงนะครับ เรามักจะพบว่า พอส่งงานให้ Dev ไปแล้ว Dev กลับต้องเสียเวลาไปกับการแก้ปัญหาพื้นฐาน เช่น รันโค้ดไม่ขึ้น หรือระบบไม่รองรับ ซึ่งปัญหาแต่ละเคส ทำให้เราเสียเวลาทำงานของทีมไปเป็นวันๆ เลยครับ</a:t>
            </a:r>
          </a:p>
          <a:p>
            <a:r>
              <a:rPr lang="en-US" dirty="0"/>
              <a:t>[สำหรับทีมเทคนิค]: ลองดู 5 เคสตัวอย่างนี้ครับ เช่น การเรียงลำดับ Build ผิด เอา Schema กลางไปไว้หลังสุด วิศวกรสองคนก็นั่งงมไปทั้งวัน หรือทำฟีเจอร์กล้อง แต่ไม่มีการคุยเรื่อง Environment ว่าจะ Serve แบบ HTTPS ยังไง พอมารันบนแท็บเล็ตก็พัง</a:t>
            </a:r>
          </a:p>
          <a:p>
            <a:endParaRPr lang="en-US" dirty="0"/>
          </a:p>
          <a:p>
            <a:r>
              <a:rPr lang="en-US" dirty="0"/>
              <a:t>ปัญหาก็คือ กฎทั่วๆ ไปที่เช็คแค่ว่า "ช่องนี้กรอกข้อมูลหรือยัง" จะมองไม่เห็นความพัง 5 แบบนี้เลยครับ มันเลยเป็นเหตุผลที่เราต้องมีด่าน Handoff ที่ฉลาดกว่านั้น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กฎของ Axiom-PMO ในด่านนี้จึงไม่ได้แค่ตรวจ Syntax แต่ตรวจ Dependency Tree ว่าเรียงลำดับถูกไหม มี Seed data จริงๆ ให้เทสต์ครอบคลุมหรือเปล่า ซึ่งถ้าปล่อยผ่านไป มันจะไปบรรลัยในเช้าวันจันทร์ตอนเริ่ม Sprint แน่นอน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แล้ว Validator ของด่าน Handoff มันทำงานยังไงให้ฉลาดขึ้นโดยที่ไม่มั่ว? เราใช้เทคนิคการแบ่งการตรวจสอบออกเป็น 2 ชั้นครับ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11_two_layers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เพื่อป้องกันปัญหาที่เราคุยกันเมื่อสักครู่ ระบบตรวจสอบในด่าน Handoff จึงถูกแบ่งออกเป็น 2 ชั้นแยกกันอย่างตั้งใจครับ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ชั้นที่ 1 คือ Deterministic Layer (เครื่องตรวจสิ่งที่พิสูจน์ได้): ชั้นนี้คอมพิวเตอร์เป็นคนตรวจครับ เช่น โครงสร้างไฟล์ กฎความสอดคล้อง กฎพวกนี้จะไม่เดาความหมายเชิงธุรกิจเลย เพราะถ้า Validator พยายามจะเดาแล้วเดาผิด คนจะเริ่มเพิกเฉยต่อคำเตือนของมัน</a:t>
            </a:r>
          </a:p>
          <a:p>
            <a:r>
              <a:rPr lang="en-US" dirty="0"/>
              <a:t>ชั้นที่ 2 คือ Semantic Review (คนหรือ AI ช่วยตรวจความสมเหตุสมผล): ชั้นนี้จะใช้อ่านเนื้อหาเชิงลึกครับ เพื่อดูว่าสัญญาทั้งหมดมัน Make sense ไหม โดยมีเกณฑ์การอ่านอยู่ 12 เลนส์ ซึ่งการรีวิวนี้เป็นแค่การเก็บเป็น "หลักฐาน" ไม่ใช่การอนุมัตินะครับ</a:t>
            </a:r>
          </a:p>
          <a:p>
            <a:endParaRPr lang="en-US" dirty="0"/>
          </a:p>
          <a:p>
            <a:r>
              <a:rPr lang="en-US" dirty="0"/>
              <a:t>และที่สำคัญ เรื่องที่เกี่ยวกับ Privacy และ Environment AI จะไม่มีสิทธิ์ปิด Finding หรือปัญหาเหล่านั้นได้ด้วยตัวเอง การตัดสินใจเรื่องพวกนี้เป็นของคน 100% ครับ "คำสั่งที่บอกให้ AI อย่าปิด finding ไม่ใช่การควบคุม แต่กฎที่ทำให้ด่านตรวจ Fail เมื่อ AI พยายามจะปิด นั่นแหละคือการควบคุม"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อธิบายเพิ่มสำหรับสายเทคนิคนะครับ, กฎ Handoff-001 ถึง 014 จะรันอยู่ใน Layer 1 ทำหน้าที่แค่ Parser และ Link checker ล้วนๆ แต่ถ้าเป็นเชิงความหมายจะถูกโยนไปที่ `HANDOFF-REVIEW.json` เพื่อทำ Semantic review ใน Layer 2 ครับ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แล้ว 12 เลนส์ที่ใช้รีวิวความสมเหตุสมผลในชั้นที่ 2 มีอะไรบ้าง? เรามาดูกันครับ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12_twelve_lenses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สิบสองเลนส์นี้ ไม่ใช่เวทมนตร์อะไรหรอกครับ แต่มันคือ 12 คำถามพื้นฐานที่บรรดา Tech Lead หรือคนตรวจงานเก่งๆ เขามักจะถามกันอยู่แล้ว เราแค่จับมันมาเขียนลงไฟล์ให้ AI ถามให้ครบทุกครั้งเท่านั้นเอง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เพื่อให้เห็นภาพ เลนส์พวกนี้จะถามคำถามอย่างเช่น:</a:t>
            </a:r>
          </a:p>
          <a:p>
            <a:r>
              <a:rPr lang="en-US" dirty="0"/>
              <a:t>• ขอบเขตที่ตัดมา ส่งมอบคุณค่าได้จริงไหม?</a:t>
            </a:r>
          </a:p>
          <a:p>
            <a:r>
              <a:rPr lang="en-US" dirty="0"/>
              <a:t>• รองรับ Use case ครบหรือเปล่า หรือมีแต่ Happy path?</a:t>
            </a:r>
          </a:p>
          <a:p>
            <a:r>
              <a:rPr lang="en-US" dirty="0"/>
              <a:t>• มีการจัดการเรื่อง State Transitions และ Rollback เตรียมไว้ไหมเวลาพัง?</a:t>
            </a:r>
          </a:p>
          <a:p>
            <a:r>
              <a:rPr lang="en-US" dirty="0"/>
              <a:t>• มีเจ้าของงานชัดเจนหรือเปล่า?</a:t>
            </a:r>
          </a:p>
          <a:p>
            <a:endParaRPr lang="en-US" dirty="0"/>
          </a:p>
          <a:p>
            <a:r>
              <a:rPr lang="en-US" dirty="0"/>
              <a:t>ทุกเลนส์จะต้องถูกพิจารณา และหา Finding ถ้ามีปัญหา แต่จุดที่ผมอยากให้สังเกตคือจุดสีแดงตรงมุมขวาบนในข้อ 10 และ 11 ครับ</a:t>
            </a:r>
          </a:p>
          <a:p>
            <a:r>
              <a:rPr lang="en-US" dirty="0"/>
              <a:t>เรื่อง "Privacy และการจัดชั้นข้อมูล" กับ "ข้อจำกัดด้าน Environment" สองเลนส์นี้เป็นขอบเขตอำนาจของ "มนุษย์เท่านั้น (Human-only)" AI ไม่สามารถตัดสินใจแทนเราได้ครับ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อีกเรื่องที่สำคัญคือ Finding ทุกอันจะต้องมี "หลักฐาน" อ้างอิงด้วยนะครับ หาไม่มีหลักฐานมาอ้าง มันเป็นแค่ความเห็น ไม่ใช่ Finding ครับ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พอเราเอา 12 เลนส์นี้ไปตรวจแล้ว ผลที่ออกมามันจะบอกว่าผ่านหรือไม่ผ่านง่ายๆ เลยหรือเปล่า? คำตอบคือไม่ใช่อย่างนั้นครับ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13_readiness_and_score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เวลาจะส่งงานต่อ เรามักจะอยากได้คำตอบง่ายๆ ว่า "พร้อม" หรือ "ไม่พร้อม" แต่ในโลกความเป็นจริง ความพร้อมไม่ใช่ค่าเดียวครับ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[สำหรับผู้บริหาร]: การยุบทุกอย่างให้เหลือแค่ "พร้อม" หรือ "ไม่พร้อม" มันทำให้เราต้องเลือกระหว่าง การเบรกทีมงานที่จริงๆ แล้วเริ่มเขียนโค้ดได้ กับการยอมปล่อยผ่านโปรเจกต์ที่ยังเอาไปเดโมให้ลูกค้าดูไม่ได้ เราเลยประเมินความพร้อมออกมาเป็น 6 มิติ (ฝั่งซ้าย) ควบคู่กับคะแนน 7 ด้าน (ฝั่งขวา) ครับ</a:t>
            </a:r>
          </a:p>
          <a:p>
            <a:r>
              <a:rPr lang="en-US" dirty="0"/>
              <a:t>[สำหรับทีมเทคนิค]: ตรง 6 มิตินี้ สถานะมันไม่ได้มีแค่ True/False นะครับ แต่มันมีสถานะ `null` ด้วย `null` แปลว่า "ยังไม่ได้รีวิว" ซึ่งสำคัญมาก เพราะการที่เราบอกว่าไม่มี Finding ที่บันทึกไว้ มันต่างจากการที่มีหลักฐานยืนยันว่าไม่มีปัญหานะครับ</a:t>
            </a:r>
          </a:p>
          <a:p>
            <a:endParaRPr lang="en-US" dirty="0"/>
          </a:p>
          <a:p>
            <a:r>
              <a:rPr lang="en-US" dirty="0"/>
              <a:t>นอกจากนี้ คะแนนที่เห็นฝั่งขวา จะมีเพดาน (Cap) บังคับไว้ด้วย เช่น ถ้าเกิด Fail ในจุดสำคัญ คะแนนจะโดนตัดหักทันที ไม่ให้เกินค่าสูงสุดที่กำหนดไว้ เพื่อบอกให้รู้ว่า "คะแนนสูง ไม่ได้แปลว่าอนุมัติให้ผ่าน"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ระบบคำนวณคะแนนนี้ดึงค่ามาจาก `pmo-config/handoff-policy.json` ตรงๆ เลยครับ ถ้ามี Critical finding ที่ Block ก่อนเข้าโหมด Build ต่อให้ด้านอื่นดีหมด คะแนนก็จะโดนกดให้ไม่เกิน 49 ทันที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เพื่อให้เห็นภาพชัดเจนที่สุด ผมมีตัวอย่างโปรเจกต์ 2 ตัวที่ดูเหมือนจะพร้อมเท่ากัน แต่ผลลัพธ์ต่างกันลิบลับ มาดูกันครับ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14_broken_vs_fixed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หน้าต่างนี้คือบทพิสูจน์ที่ชัดเจนที่สุดครับว่า ทำไมการตรวจเอกสารแค่ว่า "กรอกครบไหม" ถึงไม่พอ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[สำหรับผู้บริหาร]: สมมติเรามีโปรเจกต์ 2 ตัวที่กรอกฟอร์มครบทุกช่องเหมือนกัน ถ้าตรวจแบบเดิม ทั้งคู่ผ่านครับ แต่พอเราใช้ Axiom-PMO เข้ามาจับ มันจะเจอปัญหาที่ซ่อนอยู่ เช่น เรื่องลำดับการ Build ผิด หรือเคสเดโมไปเปิดเว็บกล้องในเครื่องที่ไม่มี HTTPS ปัญหาพวกนี้จะทำให้งานสะดุดและเสียเวลาเป็นวันๆ ทันที</a:t>
            </a:r>
          </a:p>
          <a:p>
            <a:r>
              <a:rPr lang="en-US" dirty="0"/>
              <a:t>[สำหรับทีมเทคนิค]: ลองดูตารางเปรียบเทียบครับ กฎอย่าง `HANDOFF-004` จะเห็นว่าลำดับของ Schema กลางไปอยู่หลังสุด ซึ่งมันผิดหลัก Dependency พอรันด้วยระบบของเรา มันจะฟ้องทันทีว่า "Ready to build, but NOT ready to demo"</a:t>
            </a:r>
          </a:p>
          <a:p>
            <a:endParaRPr lang="en-US" dirty="0"/>
          </a:p>
          <a:p>
            <a:r>
              <a:rPr lang="en-US" dirty="0"/>
              <a:t>สังเกตนะครับว่าคะแนนมันคือ 92 ไม่ใช่ 100 เต็ม เพราะโปรเจกต์ที่ตัวเอกสารมันเองยังฟ้องว่าเอาไปเดโมไม่ได้ เราก็ไม่ควรอ่านค่าความสำเร็จของมันว่าสมบูรณ์แบบครับ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จุดที่น่าสนใจคือ Semantic review มันจะฟ้องอุปกรณ์เดโม (ที่ยังไม่พร้อม) ส่วน `HANDOFF.md` ฟ้องเรื่อง Certificate ทั้งสองปัญหาหยุดการเดโม แต่ไม่ได้หยุด Dev ไม่ให้เขียนโค้ด ดังนั้น Gate นี้ก็จะไม่ Block การเริ่มทำงานแบบเหมารวมครับ</a:t>
            </a:r>
          </a:p>
          <a:p>
            <a:endParaRPr lang="en-US" dirty="0"/>
          </a:p>
          <a:p>
            <a:r>
              <a:rPr lang="en-US" dirty="0"/>
              <a:t>[ส่งเข้าหน้าถัดไป]</a:t>
            </a:r>
          </a:p>
          <a:p>
            <a:r>
              <a:rPr lang="en-US" dirty="0"/>
              <a:t>ทั้งหมดที่เราพูดมานี้ ไม่ใช่แค่ทฤษฎีในกระดาษนะครับ มันมีตัวตนอยู่จริงและรันได้จริงๆ ในหน้าสุดท้ายนี้ ผมจะโชว์ให้ดูครับ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15_unenforceable_rules</a:t>
            </a:r>
          </a:p>
          <a:p>
            <a:endParaRPr lang="en-US" dirty="0"/>
          </a:p>
          <a:p>
            <a:r>
              <a:rPr lang="en-US" dirty="0"/>
              <a:t>[เปิดเรื่อง]</a:t>
            </a:r>
          </a:p>
          <a:p>
            <a:r>
              <a:rPr lang="en-US" dirty="0"/>
              <a:t>เราพูดถึงทฤษฎีกันมาเยอะแล้ว อยากให้ทุกท่านจำประโยคนี้กลับไปครับ: "กฎที่บังคับไม่ได้ ไม่ใช่กฎ"</a:t>
            </a:r>
          </a:p>
          <a:p>
            <a:endParaRPr lang="en-US" dirty="0"/>
          </a:p>
          <a:p>
            <a:r>
              <a:rPr lang="en-US" dirty="0"/>
              <a:t>[ขยายความ]</a:t>
            </a:r>
          </a:p>
          <a:p>
            <a:r>
              <a:rPr lang="en-US" dirty="0"/>
              <a:t>สิ่งที่อยู่ใน Axiom-PMO ไม่ใช่แค่ข้อความในไฟล์ PDF หรือ Confluence ครับ แต่มันคือ "โค้ด" ที่รันได้จริง ทดสอบแล้ว และมันพร้อมจะ "ล้มเหลว" เมื่อเจอความผิดปกติ</a:t>
            </a:r>
          </a:p>
          <a:p>
            <a:r>
              <a:rPr lang="en-US" dirty="0"/>
              <a:t>เรามี Validation Rules 82 กฎ, เลนส์สำหรับ Review 12 เลนส์, เคสทดสอบ 148 เคส และโค้ด PowerShell กว่า 5,400 บรรทัดที่ทำงานอยู่เบื้องหลัง</a:t>
            </a:r>
          </a:p>
          <a:p>
            <a:endParaRPr lang="en-US" dirty="0"/>
          </a:p>
          <a:p>
            <a:r>
              <a:rPr lang="en-US" dirty="0"/>
              <a:t>ระบบมีกลไกป้องกันตัวเองอย่างเหนียวแน่น (ซ้ายมือ) เช่น การทำ Config-mutation test เพื่อให้แน่ใจว่าถ้าแก้ Policy แล้ว พฤติกรรมของกฎต้องเปลี่ยนตาม ถ้า AI ดันสร้างเอกสารหลอกๆ หรืออ้างอิงหน้าเอกสารที่ไม่มีอยู่จริง ตัว Validator ก็จะเตะให้ Fail ทันที</a:t>
            </a:r>
          </a:p>
          <a:p>
            <a:r>
              <a:rPr lang="en-US" dirty="0"/>
              <a:t>ฝั่งขวามือคือคำสั่งที่คุณสามารถพิมพ์แล้วรันได้เลยตอนนี้</a:t>
            </a:r>
          </a:p>
          <a:p>
            <a:endParaRPr lang="en-US" dirty="0"/>
          </a:p>
          <a:p>
            <a:r>
              <a:rPr lang="en-US" dirty="0"/>
              <a:t>[คำถามที่อาจพบ &amp; สำหรับสายเทคนิค]</a:t>
            </a:r>
          </a:p>
          <a:p>
            <a:r>
              <a:rPr lang="en-US" dirty="0"/>
              <a:t>สำหรับทีมเทคนิคที่อยากเริ่มรัน แค่เรียก `validate-project.ps1` หรือ `assess-handoff.ps1` คุณก็จะได้ Exit Code ออกมา 0, 1, 2 ตามมาตรฐาน CI เลยครับ ระบบพัฒนาบน PowerShell 5.1 เพื่อให้มั่นคงที่สุดใน Windows CI</a:t>
            </a:r>
          </a:p>
          <a:p>
            <a:endParaRPr lang="en-US" dirty="0"/>
          </a:p>
          <a:p>
            <a:r>
              <a:rPr lang="en-US" dirty="0"/>
              <a:t>[ปิดท้าย]</a:t>
            </a:r>
          </a:p>
          <a:p>
            <a:r>
              <a:rPr lang="en-US" dirty="0"/>
              <a:t>ท้ายที่สุดนี้ AI อาจจะเก่งเรื่องการ Build หรือเขียนโค้ดครับ แต่ Axiom-PMO คือคนที่จะคอยตรวจสอบความถูกต้อง ทั้งขอบเขต หลักฐาน และอำนาจเบื้องหลังงานชิ้นนั้น เพื่อให้เรานำ AI มาใช้งานได้อย่างมั่นใจ ขอบคุณครับ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xiom_pmo_over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xiom_pmo_over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666750"/>
            <a:ext cx="1737611" cy="518351"/>
            <a:chOff x="678942" y="666750"/>
            <a:chExt cx="1737611" cy="518351"/>
          </a:xfrm>
        </p:grpSpPr>
        <p:sp>
          <p:nvSpPr>
            <p:cNvPr id="2" name="Rectangle 2"/>
            <p:cNvSpPr/>
            <p:nvPr/>
          </p:nvSpPr>
          <p:spPr>
            <a:xfrm>
              <a:off x="685800" y="666750"/>
              <a:ext cx="4953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921068"/>
              <a:ext cx="1737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AXIOM-PMO 1.1.1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2041208"/>
            <a:ext cx="8453432" cy="2850832"/>
            <a:chOff x="666750" y="2041208"/>
            <a:chExt cx="8453432" cy="2850832"/>
          </a:xfrm>
        </p:grpSpPr>
        <p:sp>
          <p:nvSpPr>
            <p:cNvPr id="5" name="TextBox 5"/>
            <p:cNvSpPr txBox="1"/>
            <p:nvPr/>
          </p:nvSpPr>
          <p:spPr>
            <a:xfrm>
              <a:off x="669798" y="2041208"/>
              <a:ext cx="53413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agents can write code.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748915"/>
              <a:ext cx="674843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They </a:t>
              </a:r>
              <a:r>
                <a:rPr lang="en-US" sz="6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should not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3672840"/>
              <a:ext cx="845343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invent the project.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4370" y="5191125"/>
            <a:ext cx="10831830" cy="1023176"/>
            <a:chOff x="674370" y="5191125"/>
            <a:chExt cx="10831830" cy="1023176"/>
          </a:xfrm>
        </p:grpSpPr>
        <p:sp>
          <p:nvSpPr>
            <p:cNvPr id="9" name="Line 9"/>
            <p:cNvSpPr/>
            <p:nvPr/>
          </p:nvSpPr>
          <p:spPr>
            <a:xfrm>
              <a:off x="685800" y="51911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4370" y="5443538"/>
              <a:ext cx="6239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เขียนโค้ดได้ แต่ต้องไม่กุโปรเจกต์ขึ้นมาเอง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5950268"/>
              <a:ext cx="7140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Anti-Hallucination Framework for AI Agents — กรอบกำกับการทำงานของ AI Agent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25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ปัญหา — ทำไมต้องมี Axiom-PMO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5889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ปัญหาไม่ใช่ AI เขียนโค้ดไม่เป็น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73608" y="2407920"/>
            <a:ext cx="5127955" cy="898017"/>
            <a:chOff x="673608" y="2407920"/>
            <a:chExt cx="5127955" cy="898017"/>
          </a:xfrm>
        </p:grpSpPr>
        <p:sp>
          <p:nvSpPr>
            <p:cNvPr id="7" name="TextBox 7"/>
            <p:cNvSpPr txBox="1"/>
            <p:nvPr/>
          </p:nvSpPr>
          <p:spPr>
            <a:xfrm>
              <a:off x="673608" y="2407920"/>
              <a:ext cx="51279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ส่งงานมาแล้ว — แต่คุณรู้ได้ยังไงว่า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3608" y="2836545"/>
              <a:ext cx="36712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สิ่งที่มันทำ คือสิ่งที่ลูกค้าขอ?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3806190"/>
            <a:ext cx="3382747" cy="1304544"/>
            <a:chOff x="685800" y="3806190"/>
            <a:chExt cx="3382747" cy="1304544"/>
          </a:xfrm>
        </p:grpSpPr>
        <p:sp>
          <p:nvSpPr>
            <p:cNvPr id="10" name="Rectangle 10"/>
            <p:cNvSpPr/>
            <p:nvPr/>
          </p:nvSpPr>
          <p:spPr>
            <a:xfrm>
              <a:off x="685800" y="3924300"/>
              <a:ext cx="1905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7656" y="3806190"/>
              <a:ext cx="30108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requirement ข้อนี้มาจากไหน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4400550"/>
              <a:ext cx="1905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7656" y="42824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ใครเป็นคนอนุมัติ scope นี้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4876800"/>
              <a:ext cx="1905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7656" y="4758690"/>
              <a:ext cx="2550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ใครยืนยันว่าเทสต์ผ่านจริง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6656" y="5520690"/>
            <a:ext cx="5068759" cy="352044"/>
            <a:chOff x="676656" y="5520690"/>
            <a:chExt cx="5068759" cy="352044"/>
          </a:xfrm>
        </p:grpSpPr>
        <p:sp>
          <p:nvSpPr>
            <p:cNvPr id="17" name="TextBox 17"/>
            <p:cNvSpPr txBox="1"/>
            <p:nvPr/>
          </p:nvSpPr>
          <p:spPr>
            <a:xfrm>
              <a:off x="676656" y="5520690"/>
              <a:ext cx="5068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ถ้าตอบสามข้อนี้ไม่ได้ แปลว่ายังไม่มี governance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25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ปัญหา — ทำไมต้องมี Axiom-PMO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6406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ที่ไม่ถูกคุม จะทำห้าอย่างนี้เสมอ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8942" y="2186940"/>
            <a:ext cx="10827258" cy="699135"/>
            <a:chOff x="678942" y="2186940"/>
            <a:chExt cx="10827258" cy="699135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856" y="2186940"/>
              <a:ext cx="794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invent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6142" y="2521268"/>
              <a:ext cx="63381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กุ requirement, acceptance criteria, actor หรือการอนุมัติ ที่ไม่เคยมีใครให้ไว้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876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78942" y="2929890"/>
            <a:ext cx="10827258" cy="699135"/>
            <a:chOff x="678942" y="2929890"/>
            <a:chExt cx="10827258" cy="699135"/>
          </a:xfrm>
        </p:grpSpPr>
        <p:sp>
          <p:nvSpPr>
            <p:cNvPr id="12" name="TextBox 12"/>
            <p:cNvSpPr txBox="1"/>
            <p:nvPr/>
          </p:nvSpPr>
          <p:spPr>
            <a:xfrm>
              <a:off x="678942" y="2978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2929890"/>
              <a:ext cx="2638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silently expand scope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3264218"/>
              <a:ext cx="3921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เติมฟีเจอร์ที่ดูน่าจะดี ซึ่งไม่มีใครขอ แล้วไม่บอกว่าเติม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3619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78942" y="3672840"/>
            <a:ext cx="10827258" cy="699135"/>
            <a:chOff x="678942" y="3672840"/>
            <a:chExt cx="10827258" cy="699135"/>
          </a:xfrm>
        </p:grpSpPr>
        <p:sp>
          <p:nvSpPr>
            <p:cNvPr id="17" name="TextBox 17"/>
            <p:cNvSpPr txBox="1"/>
            <p:nvPr/>
          </p:nvSpPr>
          <p:spPr>
            <a:xfrm>
              <a:off x="678942" y="37214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3856" y="3672840"/>
              <a:ext cx="17738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claim evidence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142" y="4007168"/>
              <a:ext cx="5457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อ้างว่าเทสต์ผ่าน หรือ QA อนุมัติแล้ว ทั้งที่ตัวเองเป็นคนสร้างหลักฐานนั้น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4362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78942" y="4415790"/>
            <a:ext cx="10827258" cy="699135"/>
            <a:chOff x="678942" y="4415790"/>
            <a:chExt cx="10827258" cy="699135"/>
          </a:xfrm>
        </p:grpSpPr>
        <p:sp>
          <p:nvSpPr>
            <p:cNvPr id="22" name="TextBox 22"/>
            <p:cNvSpPr txBox="1"/>
            <p:nvPr/>
          </p:nvSpPr>
          <p:spPr>
            <a:xfrm>
              <a:off x="678942" y="44643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3856" y="4415790"/>
              <a:ext cx="2079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lose traceability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142" y="4750118"/>
              <a:ext cx="468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ทำให้สาวไม่ได้ว่าสิ่งที่ build ออกมา มาจากคำขอข้อไหนของใคร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5800" y="510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78942" y="5158740"/>
            <a:ext cx="4868951" cy="598361"/>
            <a:chOff x="678942" y="5158740"/>
            <a:chExt cx="4868951" cy="598361"/>
          </a:xfrm>
        </p:grpSpPr>
        <p:sp>
          <p:nvSpPr>
            <p:cNvPr id="27" name="TextBox 27"/>
            <p:cNvSpPr txBox="1"/>
            <p:nvPr/>
          </p:nvSpPr>
          <p:spPr>
            <a:xfrm>
              <a:off x="678942" y="5207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3856" y="5158740"/>
              <a:ext cx="3402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cross authority boundaries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6142" y="5493068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commit, push หรือ release โดยไม่มีมนุษย์คนไหนพูดว่าใช่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8942" y="6045518"/>
            <a:ext cx="4641014" cy="264033"/>
            <a:chOff x="678942" y="6045518"/>
            <a:chExt cx="4641014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678942" y="6045518"/>
              <a:ext cx="4641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ทั้งห้าข้อนี้ AI ไม่ได้ตั้งใจโกหก — มันแค่เติมช่องว่างให้เต็ม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25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ปัญหา — ทำไมต้องมี Axiom-PMO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60429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prompt คือคำขอ ไม่ใช่ control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74370" y="2059781"/>
            <a:ext cx="4021074" cy="3317653"/>
            <a:chOff x="674370" y="2059781"/>
            <a:chExt cx="4021074" cy="3317653"/>
          </a:xfrm>
        </p:grpSpPr>
        <p:grpSp>
          <p:nvGrpSpPr>
            <p:cNvPr id="9" name="Group 9"/>
            <p:cNvGrpSpPr/>
            <p:nvPr/>
          </p:nvGrpSpPr>
          <p:grpSpPr>
            <a:xfrm>
              <a:off x="708071" y="2059781"/>
              <a:ext cx="263510" cy="242888"/>
              <a:chOff x="708071" y="2059781"/>
              <a:chExt cx="263510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08071" y="205978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88207" y="224869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674370" y="2595562"/>
              <a:ext cx="4013359" cy="1202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prompt that politely asks the agent not to do these things is not a control.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3996690"/>
              <a:ext cx="401878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Axiom-PMO เปลี่ยนข้อห้ามแต่ละข้อ ให้เป็นสัญญาที่เครื่องตรวจสอบได้ มี validator ที่ exit non-zero เมื่อสัญญา ถูกละเมิด เหมือน linter ที่ทำให้ PR ไม่ผ่าน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656" y="5425440"/>
            <a:ext cx="5840493" cy="352044"/>
            <a:chOff x="676656" y="5425440"/>
            <a:chExt cx="5840493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676656" y="5425440"/>
              <a:ext cx="58404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Nothing is enforced by asking the agent nicely.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953250" y="2190750"/>
            <a:ext cx="4552950" cy="3752850"/>
            <a:chOff x="6953250" y="2190750"/>
            <a:chExt cx="4552950" cy="3752850"/>
          </a:xfrm>
        </p:grpSpPr>
        <p:sp>
          <p:nvSpPr>
            <p:cNvPr id="15" name="Rectangle 15"/>
            <p:cNvSpPr/>
            <p:nvPr/>
          </p:nvSpPr>
          <p:spPr>
            <a:xfrm>
              <a:off x="6953250" y="2190750"/>
              <a:ext cx="4552950" cy="3752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953250" y="2190750"/>
              <a:ext cx="47625" cy="3752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51192" y="2502218"/>
              <a:ext cx="27234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เคสจริงที่ทำให้ framework นี้เกิด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48906" y="2872740"/>
              <a:ext cx="2682621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Agent That Shipped Without Permission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58050" y="3638550"/>
              <a:ext cx="190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51192" y="3835718"/>
              <a:ext cx="294551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commit และ push ขึ้น main เอง แก้ไปหลายร้อยไฟล์ ไม่มีใคร review diff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58050" y="4400550"/>
              <a:ext cx="190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1192" y="4597718"/>
              <a:ext cx="227685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รายงานสถานะของตัวเองบอกว่า ยังไม่ได้ commit หรือ push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58050" y="5162550"/>
              <a:ext cx="1905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51192" y="5359718"/>
              <a:ext cx="261504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สาเหตุราก — The boundary lived only in prose.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613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ภาพรวมสถาปัตยกรรม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75179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Axiom-PMO เป็นชั้นกำกับ ไม่ใช่ชั้นลงมือ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714750" y="2019300"/>
            <a:ext cx="4762500" cy="457200"/>
            <a:chOff x="3714750" y="2019300"/>
            <a:chExt cx="4762500" cy="457200"/>
          </a:xfrm>
        </p:grpSpPr>
        <p:sp>
          <p:nvSpPr>
            <p:cNvPr id="7" name="Rectangle 7"/>
            <p:cNvSpPr/>
            <p:nvPr/>
          </p:nvSpPr>
          <p:spPr>
            <a:xfrm>
              <a:off x="3714750" y="2019300"/>
              <a:ext cx="47625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98225" y="2143125"/>
              <a:ext cx="2995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Human / PM / Product Owner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05000" y="2724150"/>
            <a:ext cx="8382000" cy="1619250"/>
            <a:chOff x="1905000" y="2724150"/>
            <a:chExt cx="8382000" cy="1619250"/>
          </a:xfrm>
        </p:grpSpPr>
        <p:sp>
          <p:nvSpPr>
            <p:cNvPr id="10" name="Rectangle 10"/>
            <p:cNvSpPr/>
            <p:nvPr/>
          </p:nvSpPr>
          <p:spPr>
            <a:xfrm>
              <a:off x="1905000" y="2724150"/>
              <a:ext cx="8382000" cy="1619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83600" y="2850832"/>
              <a:ext cx="46248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Axiom-PMO — Governance &amp; Control Plane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64842" y="3245168"/>
              <a:ext cx="2527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Source-of-truth protection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64842" y="3511868"/>
              <a:ext cx="222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Requirement traceability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4842" y="3778568"/>
              <a:ext cx="2750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Lite / Standard / Strict modes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64842" y="4045268"/>
              <a:ext cx="2091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Scope &amp; design approval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9642" y="3245168"/>
              <a:ext cx="2018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Evidence requirements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9642" y="3511868"/>
              <a:ext cx="2644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QA / security / release gates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9642" y="3778568"/>
              <a:ext cx="2472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Human authority boundaries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05000" y="4629150"/>
            <a:ext cx="8382000" cy="842201"/>
            <a:chOff x="1905000" y="4629150"/>
            <a:chExt cx="8382000" cy="842201"/>
          </a:xfrm>
        </p:grpSpPr>
        <p:sp>
          <p:nvSpPr>
            <p:cNvPr id="20" name="Rectangle 20"/>
            <p:cNvSpPr/>
            <p:nvPr/>
          </p:nvSpPr>
          <p:spPr>
            <a:xfrm>
              <a:off x="1905000" y="4629150"/>
              <a:ext cx="83820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1368" y="4717732"/>
              <a:ext cx="27292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Execution Framework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08866" y="4997768"/>
              <a:ext cx="5774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Superpowers / BMAD / spec-kit / OpenSpec / custom Claude Code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2577" y="5207318"/>
              <a:ext cx="5346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Planning · TDD · Implementation · Code review · Verification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05000" y="5715000"/>
            <a:ext cx="8382000" cy="533400"/>
            <a:chOff x="1905000" y="5715000"/>
            <a:chExt cx="8382000" cy="533400"/>
          </a:xfrm>
        </p:grpSpPr>
        <p:sp>
          <p:nvSpPr>
            <p:cNvPr id="25" name="Rectangle 25"/>
            <p:cNvSpPr/>
            <p:nvPr/>
          </p:nvSpPr>
          <p:spPr>
            <a:xfrm>
              <a:off x="1905000" y="5715000"/>
              <a:ext cx="8382000" cy="533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73891" y="5781675"/>
              <a:ext cx="2244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Axiom-PMO Validation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56078" y="6039802"/>
              <a:ext cx="76798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Scope compliance · Evidence verification · Traceability update · QA / security review · Human release approval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19800" y="1965960"/>
            <a:ext cx="4943475" cy="4025265"/>
            <a:chOff x="6019800" y="1965960"/>
            <a:chExt cx="4943475" cy="4025265"/>
          </a:xfrm>
        </p:grpSpPr>
        <p:sp>
          <p:nvSpPr>
            <p:cNvPr id="29" name="Line 29"/>
            <p:cNvSpPr/>
            <p:nvPr/>
          </p:nvSpPr>
          <p:spPr>
            <a:xfrm>
              <a:off x="6096000" y="24765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19800" y="2647950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0" y="0"/>
                  </a:moveTo>
                  <a:lnTo>
                    <a:pt x="152400" y="0"/>
                  </a:lnTo>
                  <a:lnTo>
                    <a:pt x="7620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6096000" y="43434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019800" y="4514850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0" y="0"/>
                  </a:moveTo>
                  <a:lnTo>
                    <a:pt x="152400" y="0"/>
                  </a:lnTo>
                  <a:lnTo>
                    <a:pt x="7620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404" y="4385310"/>
              <a:ext cx="2403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approved execution contract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0" y="54673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6019800" y="5600700"/>
              <a:ext cx="152400" cy="95250"/>
            </a:xfrm>
            <a:custGeom>
              <a:avLst/>
              <a:gdLst/>
              <a:ahLst/>
              <a:cxnLst/>
              <a:rect l="l" t="t" r="r" b="b"/>
              <a:pathLst>
                <a:path w="152400" h="95250">
                  <a:moveTo>
                    <a:pt x="0" y="0"/>
                  </a:moveTo>
                  <a:lnTo>
                    <a:pt x="152400" y="0"/>
                  </a:lnTo>
                  <a:lnTo>
                    <a:pt x="7620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404" y="5490210"/>
              <a:ext cx="22766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candidate result + evidence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0287000" y="59817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0953750" y="22479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37338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8591550" y="224790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23622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8496300" y="2171700"/>
              <a:ext cx="95250" cy="152400"/>
            </a:xfrm>
            <a:custGeom>
              <a:avLst/>
              <a:gdLst/>
              <a:ahLst/>
              <a:cxnLst/>
              <a:rect l="l" t="t" r="r" b="b"/>
              <a:pathLst>
                <a:path w="95250" h="152400">
                  <a:moveTo>
                    <a:pt x="95250" y="0"/>
                  </a:moveTo>
                  <a:lnTo>
                    <a:pt x="95250" y="1524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50812" y="1965960"/>
              <a:ext cx="1470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release readiness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หลักการ 1 จาก 4 — สี่หลักการที่ทำให้มันทำงาน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88207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Evidence — ทุกข้ออ้างต้องสาวกลับไปหาแหล่งได้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85800" y="2143125"/>
            <a:ext cx="10820400" cy="1809750"/>
            <a:chOff x="685800" y="2143125"/>
            <a:chExt cx="10820400" cy="1809750"/>
          </a:xfrm>
        </p:grpSpPr>
        <p:sp>
          <p:nvSpPr>
            <p:cNvPr id="7" name="Rectangle 7"/>
            <p:cNvSpPr/>
            <p:nvPr/>
          </p:nvSpPr>
          <p:spPr>
            <a:xfrm>
              <a:off x="685800" y="2143125"/>
              <a:ext cx="1082040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3742" y="2349818"/>
              <a:ext cx="499433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id: REQ-001 statement: "User can reset password by verified email." source_ref: - source_id: MOM-20260710 locator: item-2.1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3742" y="3092768"/>
              <a:ext cx="2647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evidence_status: supported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742" y="3340418"/>
              <a:ext cx="40256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acceptance_criteria: "Given a registered email, a reset link is sent."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4286250"/>
            <a:ext cx="2016633" cy="1089851"/>
            <a:chOff x="678942" y="4286250"/>
            <a:chExt cx="2016633" cy="1089851"/>
          </a:xfrm>
        </p:grpSpPr>
        <p:sp>
          <p:nvSpPr>
            <p:cNvPr id="12" name="Rectangle 12"/>
            <p:cNvSpPr/>
            <p:nvPr/>
          </p:nvSpPr>
          <p:spPr>
            <a:xfrm>
              <a:off x="685800" y="4286250"/>
              <a:ext cx="2009775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8942" y="45405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verified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4864418"/>
              <a:ext cx="133388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มีแหล่งอ้างอิงตรง และมนุษย์อนุมัติแล้ว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879217" y="4286250"/>
            <a:ext cx="2016633" cy="1089851"/>
            <a:chOff x="2879217" y="4286250"/>
            <a:chExt cx="2016633" cy="1089851"/>
          </a:xfrm>
        </p:grpSpPr>
        <p:sp>
          <p:nvSpPr>
            <p:cNvPr id="16" name="Rectangle 16"/>
            <p:cNvSpPr/>
            <p:nvPr/>
          </p:nvSpPr>
          <p:spPr>
            <a:xfrm>
              <a:off x="2886075" y="4286250"/>
              <a:ext cx="2009775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79217" y="4540568"/>
              <a:ext cx="9582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supported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79217" y="4864418"/>
              <a:ext cx="123958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มีแหล่งอ้างอิงตรง แต่ยังรออนุมัติ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79492" y="4286250"/>
            <a:ext cx="2016633" cy="1089851"/>
            <a:chOff x="5079492" y="4286250"/>
            <a:chExt cx="2016633" cy="1089851"/>
          </a:xfrm>
        </p:grpSpPr>
        <p:sp>
          <p:nvSpPr>
            <p:cNvPr id="20" name="Rectangle 20"/>
            <p:cNvSpPr/>
            <p:nvPr/>
          </p:nvSpPr>
          <p:spPr>
            <a:xfrm>
              <a:off x="5086350" y="4286250"/>
              <a:ext cx="2009775" cy="571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79492" y="4540568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inferred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79492" y="4864418"/>
              <a:ext cx="171107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อนุมานจากแหล่งที่ไม่ครบ ต้องให้คนรีวิว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279767" y="4286250"/>
            <a:ext cx="2016633" cy="1089851"/>
            <a:chOff x="7279767" y="4286250"/>
            <a:chExt cx="2016633" cy="1089851"/>
          </a:xfrm>
        </p:grpSpPr>
        <p:sp>
          <p:nvSpPr>
            <p:cNvPr id="24" name="Rectangle 24"/>
            <p:cNvSpPr/>
            <p:nvPr/>
          </p:nvSpPr>
          <p:spPr>
            <a:xfrm>
              <a:off x="7286625" y="4286250"/>
              <a:ext cx="200977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79767" y="4540568"/>
              <a:ext cx="691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missing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79767" y="4864418"/>
              <a:ext cx="165963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ไม่พบในแหล่ง ห้ามเป็น requirement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480042" y="4286250"/>
            <a:ext cx="2026158" cy="1089851"/>
            <a:chOff x="9480042" y="4286250"/>
            <a:chExt cx="2026158" cy="1089851"/>
          </a:xfrm>
        </p:grpSpPr>
        <p:sp>
          <p:nvSpPr>
            <p:cNvPr id="28" name="Rectangle 28"/>
            <p:cNvSpPr/>
            <p:nvPr/>
          </p:nvSpPr>
          <p:spPr>
            <a:xfrm>
              <a:off x="9486900" y="4286250"/>
              <a:ext cx="20193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80042" y="45405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conflict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80042" y="4864418"/>
              <a:ext cx="161677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แหล่งขัดกันเอง ต้องเคลียร์ก่อนออกจริง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4370" y="5967412"/>
            <a:ext cx="9786680" cy="440055"/>
            <a:chOff x="674370" y="5967412"/>
            <a:chExt cx="9786680" cy="440055"/>
          </a:xfrm>
        </p:grpSpPr>
        <p:sp>
          <p:nvSpPr>
            <p:cNvPr id="32" name="TextBox 32"/>
            <p:cNvSpPr txBox="1"/>
            <p:nvPr/>
          </p:nvSpPr>
          <p:spPr>
            <a:xfrm>
              <a:off x="674370" y="5967412"/>
              <a:ext cx="97866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inferred, missing, conflict — ไม่ใช่ความล้มเหลว แต่คือคำตอบที่ซื่อสัตย์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หลักการ 2 จาก 4 — สี่หลักการที่ทำให้มันทำงาน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108300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Risk Modes — เลือกโหมดเบาที่สุดที่ยังคุมความเสี่ยงจริงได้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85800" y="2143125"/>
            <a:ext cx="3448050" cy="2280476"/>
            <a:chOff x="685800" y="2143125"/>
            <a:chExt cx="3448050" cy="2280476"/>
          </a:xfrm>
        </p:grpSpPr>
        <p:sp>
          <p:nvSpPr>
            <p:cNvPr id="7" name="Rectangle 7"/>
            <p:cNvSpPr/>
            <p:nvPr/>
          </p:nvSpPr>
          <p:spPr>
            <a:xfrm>
              <a:off x="685800" y="2143125"/>
              <a:ext cx="34480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7156" y="2225040"/>
              <a:ext cx="5214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Lite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442" y="2759392"/>
              <a:ext cx="189966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บั๊กเล็ก งานความเสี่ยงต่ำ หรือคำถามเพื่อความชัดเจน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3528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204" y="3489960"/>
              <a:ext cx="158191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Requirement → AC → Develop → Test → Done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40195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442" y="4159568"/>
              <a:ext cx="2134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เจ้าของงานกลาง ๆ = </a:t>
              </a:r>
              <a:r>
                <a:rPr lang="en-US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warn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62450" y="2143125"/>
            <a:ext cx="3448050" cy="2280476"/>
            <a:chOff x="4362450" y="2143125"/>
            <a:chExt cx="3448050" cy="2280476"/>
          </a:xfrm>
        </p:grpSpPr>
        <p:sp>
          <p:nvSpPr>
            <p:cNvPr id="15" name="Rectangle 15"/>
            <p:cNvSpPr/>
            <p:nvPr/>
          </p:nvSpPr>
          <p:spPr>
            <a:xfrm>
              <a:off x="4362450" y="2143125"/>
              <a:ext cx="344805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43806" y="2225040"/>
              <a:ext cx="1145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Standard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46092" y="2759392"/>
              <a:ext cx="193395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ฟีเจอร์ปกติที่ PM, Dev, QA ต้องเห็นภาพร่วมกัน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362450" y="33528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46854" y="3489960"/>
              <a:ext cx="18409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Intake → Design → Handoff → Build → Release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362450" y="40195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46092" y="4159568"/>
              <a:ext cx="2001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เจ้าของงานกลาง ๆ =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39100" y="2143125"/>
            <a:ext cx="3467100" cy="2280476"/>
            <a:chOff x="8039100" y="2143125"/>
            <a:chExt cx="3467100" cy="2280476"/>
          </a:xfrm>
        </p:grpSpPr>
        <p:sp>
          <p:nvSpPr>
            <p:cNvPr id="23" name="Rectangle 23"/>
            <p:cNvSpPr/>
            <p:nvPr/>
          </p:nvSpPr>
          <p:spPr>
            <a:xfrm>
              <a:off x="8039100" y="2143125"/>
              <a:ext cx="34671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20456" y="2225040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Strict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2742" y="2759392"/>
              <a:ext cx="243116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พลาดแล้วกระทบธุรกิจ กฎหมาย เงิน ความเป็นส่วนตัว production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039100" y="335280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23504" y="3489960"/>
              <a:ext cx="182575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+ Risk Review + Separate Review / Test + Approval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039100" y="401955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22742" y="4159568"/>
              <a:ext cx="2091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review หายหรือเก่า =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5800" y="4667250"/>
            <a:ext cx="10820400" cy="1123950"/>
            <a:chOff x="685800" y="4667250"/>
            <a:chExt cx="10820400" cy="1123950"/>
          </a:xfrm>
        </p:grpSpPr>
        <p:sp>
          <p:nvSpPr>
            <p:cNvPr id="31" name="Rectangle 31"/>
            <p:cNvSpPr/>
            <p:nvPr/>
          </p:nvSpPr>
          <p:spPr>
            <a:xfrm>
              <a:off x="685800" y="4667250"/>
              <a:ext cx="108204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3742" y="4826318"/>
              <a:ext cx="6963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13 strict triggers — เข้าข้อไหนข้อเดียว validator บังคับทั้งโปรเจกต์ขึ้น Strict ทันที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4504" y="5128260"/>
              <a:ext cx="647395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payment · financial calculation · PII · sensitive data · authentication · authorization permission · irreversible action · external integration · legal/compliance production data migration · critical infrastructure · public-sector formal acceptance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8942" y="6026468"/>
            <a:ext cx="9052635" cy="264033"/>
            <a:chOff x="678942" y="6026468"/>
            <a:chExt cx="9052635" cy="264033"/>
          </a:xfrm>
        </p:grpSpPr>
        <p:sp>
          <p:nvSpPr>
            <p:cNvPr id="35" name="TextBox 35"/>
            <p:cNvSpPr txBox="1"/>
            <p:nvPr/>
          </p:nvSpPr>
          <p:spPr>
            <a:xfrm>
              <a:off x="678942" y="6026468"/>
              <a:ext cx="9052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You can always do more; you cannot silently do less. — AI ขยับขึ้นเองได้ แต่ลดจาก Strict ต้องให้คนอนุมัติ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หลักการ 3 จาก 4 — สี่หลักการที่ทำให้มันทำงาน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48952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Gates — ห้าด่าน ห้าคำถาม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85800" y="2667000"/>
            <a:ext cx="2171700" cy="2000250"/>
            <a:chOff x="685800" y="2667000"/>
            <a:chExt cx="2171700" cy="2000250"/>
          </a:xfrm>
        </p:grpSpPr>
        <p:sp>
          <p:nvSpPr>
            <p:cNvPr id="7" name="Rectangle 7"/>
            <p:cNvSpPr/>
            <p:nvPr/>
          </p:nvSpPr>
          <p:spPr>
            <a:xfrm>
              <a:off x="685800" y="2667000"/>
              <a:ext cx="194310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0204" y="2842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313944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Draft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3588068"/>
              <a:ext cx="1333881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โปรเจกต์นี้อยู่ในรูป ที่ใช้งานได้แล้ว หรือยัง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743200" y="36195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0" y="152400"/>
                  </a:lnTo>
                  <a:lnTo>
                    <a:pt x="1143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895600" y="2667000"/>
            <a:ext cx="2171700" cy="2000250"/>
            <a:chOff x="2895600" y="2667000"/>
            <a:chExt cx="21717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2895600" y="2667000"/>
              <a:ext cx="194310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80004" y="2842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76956" y="313944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Scope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79242" y="3588068"/>
              <a:ext cx="1471041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requirement ทุกข้อ มีแหล่งอ้างอิงและ อนุมัติแล้วหรือยัง</a:t>
              </a:r>
            </a:p>
          </p:txBody>
        </p:sp>
        <p:sp>
          <p:nvSpPr>
            <p:cNvPr id="17" name="Polygon 17"/>
            <p:cNvSpPr/>
            <p:nvPr/>
          </p:nvSpPr>
          <p:spPr>
            <a:xfrm>
              <a:off x="4953000" y="36195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0" y="152400"/>
                  </a:lnTo>
                  <a:lnTo>
                    <a:pt x="1143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105400" y="2667000"/>
            <a:ext cx="2171700" cy="2000250"/>
            <a:chOff x="5105400" y="2667000"/>
            <a:chExt cx="21717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5105400" y="2667000"/>
              <a:ext cx="194310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9804" y="2842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86756" y="3139440"/>
              <a:ext cx="801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Design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9042" y="3588068"/>
              <a:ext cx="1050988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ดีไซน์พร้อมและ ได้รับอนุมัติแล้ว หรือยัง</a:t>
              </a:r>
            </a:p>
          </p:txBody>
        </p:sp>
        <p:sp>
          <p:nvSpPr>
            <p:cNvPr id="23" name="Polygon 23"/>
            <p:cNvSpPr/>
            <p:nvPr/>
          </p:nvSpPr>
          <p:spPr>
            <a:xfrm>
              <a:off x="7162800" y="36195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0" y="152400"/>
                  </a:lnTo>
                  <a:lnTo>
                    <a:pt x="1143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309104" y="2461260"/>
            <a:ext cx="2177796" cy="2205990"/>
            <a:chOff x="7309104" y="2461260"/>
            <a:chExt cx="2177796" cy="2205990"/>
          </a:xfrm>
        </p:grpSpPr>
        <p:sp>
          <p:nvSpPr>
            <p:cNvPr id="25" name="Rectangle 25"/>
            <p:cNvSpPr/>
            <p:nvPr/>
          </p:nvSpPr>
          <p:spPr>
            <a:xfrm>
              <a:off x="7315200" y="2667000"/>
              <a:ext cx="1943100" cy="20002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15200" y="2667000"/>
              <a:ext cx="1943100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09104" y="2461260"/>
              <a:ext cx="1140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checking gate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99604" y="28994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96556" y="31965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Handoff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98842" y="3645218"/>
              <a:ext cx="1606915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dev เริ่มงาน ต่อระบบ และเดโมได้จริง ไหม</a:t>
              </a:r>
            </a:p>
          </p:txBody>
        </p:sp>
        <p:sp>
          <p:nvSpPr>
            <p:cNvPr id="31" name="Polygon 31"/>
            <p:cNvSpPr/>
            <p:nvPr/>
          </p:nvSpPr>
          <p:spPr>
            <a:xfrm>
              <a:off x="9372600" y="36195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0" y="152400"/>
                  </a:lnTo>
                  <a:lnTo>
                    <a:pt x="1143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563100" y="2667000"/>
            <a:ext cx="1943100" cy="2000250"/>
            <a:chOff x="9563100" y="2667000"/>
            <a:chExt cx="19431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9563100" y="2667000"/>
              <a:ext cx="1943100" cy="2000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47504" y="28422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4456" y="3139440"/>
              <a:ext cx="941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Release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46742" y="3588068"/>
              <a:ext cx="1153858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เทสต์ รีวิว อนุมัติ และย้อนกลับได้ แล้วหรือยัง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6656" y="5063490"/>
            <a:ext cx="9187194" cy="693611"/>
            <a:chOff x="676656" y="5063490"/>
            <a:chExt cx="9187194" cy="693611"/>
          </a:xfrm>
        </p:grpSpPr>
        <p:sp>
          <p:nvSpPr>
            <p:cNvPr id="38" name="TextBox 38"/>
            <p:cNvSpPr txBox="1"/>
            <p:nvPr/>
          </p:nvSpPr>
          <p:spPr>
            <a:xfrm>
              <a:off x="676656" y="5063490"/>
              <a:ext cx="91871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Handoff เป็นด่านตรวจ ไม่ใช่ด่านอนุมัติ — ไม่เพิ่มการเซ็นใหม่ แต่ใช้ Design Ready เดิม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8942" y="5493068"/>
              <a:ext cx="8491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 gate มีรายการเอกสารที่ต้องมีของตัวเอง แยกตามโหมด กำหนดไว้ใน pmo-config/artifact-policy.json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หลักการ 4 จาก 4 — สี่หลักการที่ทำให้มันทำงาน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107564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Human Authority — AI เสนอได้ แต่อนุมัติงานตัวเองไม่ได้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76656" y="2205990"/>
            <a:ext cx="4446232" cy="3322511"/>
            <a:chOff x="676656" y="2205990"/>
            <a:chExt cx="4446232" cy="3322511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2205990"/>
              <a:ext cx="1658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ทำเองไม่ได้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28003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3742" y="274986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commit, push, tag หรือ deploy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32194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3742" y="316896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อนุมัติ production release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6385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3742" y="35880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อนุมัติ business scope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40576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3742" y="4007168"/>
              <a:ext cx="31566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ทำเครื่องหมายว่า QA หรือ security ผ่าน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44767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4426268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ย้ายแถวอนุมัติจาก pending เป็น approved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48958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42" y="4845368"/>
              <a:ext cx="413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ปิด finding ที่ต้องตัดสินเชิงธุรกิจ กฎหมาย ความปลอดภัย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" y="53149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3742" y="5264468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เอาคะแนน readiness ไปเสนอเป็นข้อสรุป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77356" y="2157412"/>
            <a:ext cx="5228844" cy="3275839"/>
            <a:chOff x="6277356" y="2157412"/>
            <a:chExt cx="5228844" cy="3275839"/>
          </a:xfrm>
        </p:grpSpPr>
        <p:sp>
          <p:nvSpPr>
            <p:cNvPr id="23" name="TextBox 23"/>
            <p:cNvSpPr txBox="1"/>
            <p:nvPr/>
          </p:nvSpPr>
          <p:spPr>
            <a:xfrm>
              <a:off x="6277356" y="2205990"/>
              <a:ext cx="918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ทำได้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1210925" y="2157412"/>
              <a:ext cx="214312" cy="257176"/>
              <a:chOff x="11210925" y="2157412"/>
              <a:chExt cx="214312" cy="25717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1239500" y="21574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210925" y="2328862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339512" y="23574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6286500" y="28003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4442" y="2749868"/>
              <a:ext cx="2021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เสนอว่าควรไป gate ถัดไป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32194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4442" y="3168968"/>
              <a:ext cx="2630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บันทึก finding พร้อมหลักฐานอ้างอิง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86500" y="36385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4442" y="3588068"/>
              <a:ext cx="2930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ปิด finding ที่เอกสารแสดงชัดว่าแก้แล้ว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40576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4442" y="40071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เตรียม diff ให้คนรีวิว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286500" y="447675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79642" y="4673918"/>
              <a:ext cx="366560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commit ทำได้เฉพาะหลังมีคนอนุมัติ diff แล้ว ส่วน push, PR, merge และ production release ต้องมีการยืนยันจากมนุษย์เสมอ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5715000"/>
            <a:ext cx="10820400" cy="609600"/>
            <a:chOff x="685800" y="5715000"/>
            <a:chExt cx="10820400" cy="609600"/>
          </a:xfrm>
        </p:grpSpPr>
        <p:sp>
          <p:nvSpPr>
            <p:cNvPr id="39" name="Rectangle 39"/>
            <p:cNvSpPr/>
            <p:nvPr/>
          </p:nvSpPr>
          <p:spPr>
            <a:xfrm>
              <a:off x="685800" y="5715000"/>
              <a:ext cx="108204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1456" y="5901690"/>
              <a:ext cx="91838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An agent </a:t>
              </a:r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may</a:t>
              </a:r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recommend the next gate. It </a:t>
              </a:r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may not</a:t>
              </a:r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approve its own work.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891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เจาะลึก — ด่าน Handoff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461033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ทำไมต้องมีด่าน Handoff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73608" y="2141220"/>
            <a:ext cx="8133893" cy="469392"/>
            <a:chOff x="673608" y="2141220"/>
            <a:chExt cx="8133893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673608" y="2141220"/>
              <a:ext cx="81338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เอกสารชุดนี้ดีพอให้ dev เริ่มสร้าง และให้ทีมเดโมทันเวลาไหม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8942" y="2807018"/>
            <a:ext cx="10834116" cy="264033"/>
            <a:chOff x="678942" y="2807018"/>
            <a:chExt cx="10834116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78942" y="2807018"/>
              <a:ext cx="4657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schema กลางที่ทุกงานต้องอ่าน ถูกจัดคิวไว้หลังงานที่เรียกใช้มัน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10186" y="2807018"/>
              <a:ext cx="1902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วิศวกรสองคนเสียวันแรก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3314700"/>
            <a:ext cx="10834116" cy="613601"/>
            <a:chOff x="678942" y="3314700"/>
            <a:chExt cx="10834116" cy="613601"/>
          </a:xfrm>
        </p:grpSpPr>
        <p:sp>
          <p:nvSpPr>
            <p:cNvPr id="12" name="Line 12"/>
            <p:cNvSpPr/>
            <p:nvPr/>
          </p:nvSpPr>
          <p:spPr>
            <a:xfrm>
              <a:off x="685800" y="3314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8942" y="3454718"/>
              <a:ext cx="4591431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ฟีเจอร์สแกนต้องใช้กล้อง แต่ไม่มีใครตัดสินว่าหน้าเว็บจะเสิร์ฟยังไง ทำงานบน localhost แต่พังบนแท็บเล็ตที่ยืมมา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15139" y="3454718"/>
              <a:ext cx="1797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code review จับไม่ได้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8942" y="3924300"/>
            <a:ext cx="10834116" cy="613601"/>
            <a:chOff x="678942" y="3924300"/>
            <a:chExt cx="10834116" cy="613601"/>
          </a:xfrm>
        </p:grpSpPr>
        <p:sp>
          <p:nvSpPr>
            <p:cNvPr id="16" name="Line 16"/>
            <p:cNvSpPr/>
            <p:nvPr/>
          </p:nvSpPr>
          <p:spPr>
            <a:xfrm>
              <a:off x="685800" y="3924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8942" y="4064318"/>
              <a:ext cx="3125534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เอกสารหนึ่งบอกว่าเก็บรูปไว้ในเครือข่ายไซต์ อีกเอกสารระบุอัปโหลดรูปโดยไม่จัดชั้นข้อมูล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25045" y="40643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ทั้งคู่ถูกในหน้าตัวเอง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8942" y="4533900"/>
            <a:ext cx="10834116" cy="404051"/>
            <a:chOff x="678942" y="4533900"/>
            <a:chExt cx="10834116" cy="404051"/>
          </a:xfrm>
        </p:grpSpPr>
        <p:sp>
          <p:nvSpPr>
            <p:cNvPr id="20" name="Line 20"/>
            <p:cNvSpPr/>
            <p:nvPr/>
          </p:nvSpPr>
          <p:spPr>
            <a:xfrm>
              <a:off x="685800" y="4533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942" y="4673918"/>
              <a:ext cx="5393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acceptance case อ้างพฤติกรรมกับ record ที่ seed data ไม่เคยสร้าง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25045" y="46739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เคสไม่เคยถูกรันจริง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8942" y="5143500"/>
            <a:ext cx="10834116" cy="404051"/>
            <a:chOff x="678942" y="5143500"/>
            <a:chExt cx="10834116" cy="404051"/>
          </a:xfrm>
        </p:grpSpPr>
        <p:sp>
          <p:nvSpPr>
            <p:cNvPr id="24" name="Line 24"/>
            <p:cNvSpPr/>
            <p:nvPr/>
          </p:nvSpPr>
          <p:spPr>
            <a:xfrm>
              <a:off x="685800" y="5143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942" y="5283518"/>
              <a:ext cx="2442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งานถูก assign ให้ "Dev Team"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39905" y="5283518"/>
              <a:ext cx="1273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ไม่มีใครเริ่มงาน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6656" y="5905500"/>
            <a:ext cx="10829544" cy="500634"/>
            <a:chOff x="676656" y="5905500"/>
            <a:chExt cx="10829544" cy="500634"/>
          </a:xfrm>
        </p:grpSpPr>
        <p:sp>
          <p:nvSpPr>
            <p:cNvPr id="28" name="Line 28"/>
            <p:cNvSpPr/>
            <p:nvPr/>
          </p:nvSpPr>
          <p:spPr>
            <a:xfrm>
              <a:off x="685800" y="5905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6656" y="6054090"/>
              <a:ext cx="7460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ไม่มีข้อไหนที่กฎ "ช่องนี้กรอกหรือยัง" มองเห็น — และทุกข้อกินเวลาเป็นวัน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891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เจาะลึก — ด่าน Handoff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9003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สองชั้น — เครื่องตรวจกับคนตรวจ แยกกันโดยตั้งใจ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85800" y="2286000"/>
            <a:ext cx="5219700" cy="2480501"/>
            <a:chOff x="685800" y="2286000"/>
            <a:chExt cx="5219700" cy="2480501"/>
          </a:xfrm>
        </p:grpSpPr>
        <p:sp>
          <p:nvSpPr>
            <p:cNvPr id="7" name="Rectangle 7"/>
            <p:cNvSpPr/>
            <p:nvPr/>
          </p:nvSpPr>
          <p:spPr>
            <a:xfrm>
              <a:off x="685800" y="2286000"/>
              <a:ext cx="52197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5256" y="2415540"/>
              <a:ext cx="2924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Layer 1 — Deterministic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434012" y="2424112"/>
              <a:ext cx="226219" cy="238125"/>
              <a:chOff x="5434012" y="2424112"/>
              <a:chExt cx="226219" cy="2381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434012" y="26146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553075" y="24241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553075" y="261461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493544" y="25193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612606" y="25193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470422" y="2563416"/>
                <a:ext cx="3429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4290" h="54840">
                    <a:moveTo>
                      <a:pt x="0" y="54840"/>
                    </a:moveTo>
                    <a:lnTo>
                      <a:pt x="3429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529989" y="2468154"/>
                <a:ext cx="34254" cy="54816"/>
              </a:xfrm>
              <a:custGeom>
                <a:avLst/>
                <a:gdLst/>
                <a:ahLst/>
                <a:cxnLst/>
                <a:rect l="l" t="t" r="r" b="b"/>
                <a:pathLst>
                  <a:path w="34254" h="54816">
                    <a:moveTo>
                      <a:pt x="0" y="54816"/>
                    </a:moveTo>
                    <a:lnTo>
                      <a:pt x="34254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530036" y="2563475"/>
                <a:ext cx="34242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34242" h="54769">
                    <a:moveTo>
                      <a:pt x="0" y="0"/>
                    </a:moveTo>
                    <a:lnTo>
                      <a:pt x="34242" y="5476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589544" y="2468166"/>
                <a:ext cx="34302" cy="54888"/>
              </a:xfrm>
              <a:custGeom>
                <a:avLst/>
                <a:gdLst/>
                <a:ahLst/>
                <a:cxnLst/>
                <a:rect l="l" t="t" r="r" b="b"/>
                <a:pathLst>
                  <a:path w="34302" h="54888">
                    <a:moveTo>
                      <a:pt x="0" y="0"/>
                    </a:moveTo>
                    <a:lnTo>
                      <a:pt x="34302" y="54888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19" name="Rectangle 19"/>
            <p:cNvSpPr/>
            <p:nvPr/>
          </p:nvSpPr>
          <p:spPr>
            <a:xfrm>
              <a:off x="685800" y="306705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3742" y="30165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ตรวจสิ่งที่พิสูจน์ได้จากเอกสาร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5800" y="340995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3742" y="3359468"/>
              <a:ext cx="3009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กฎ HANDOFF-001 ถึง HANDOFF-014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" y="375285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3742" y="3702368"/>
              <a:ext cx="246545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อ่านเฉพาะสิ่งที่ผู้เขียนประกาศไว้ แล้วเช็คว่าครบและสอดคล้องกันไหม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5800" y="43243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3742" y="4273868"/>
              <a:ext cx="2984087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ตัดสินไม่ได้ว่ารูปถ่ายรถคือข้อมูลส่วนบุคคล และไม่พยายามจะตัดสิน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2286000"/>
            <a:ext cx="5219700" cy="2480501"/>
            <a:chOff x="6286500" y="2286000"/>
            <a:chExt cx="5219700" cy="2480501"/>
          </a:xfrm>
        </p:grpSpPr>
        <p:sp>
          <p:nvSpPr>
            <p:cNvPr id="28" name="Rectangle 28"/>
            <p:cNvSpPr/>
            <p:nvPr/>
          </p:nvSpPr>
          <p:spPr>
            <a:xfrm>
              <a:off x="6286500" y="2286000"/>
              <a:ext cx="5219700" cy="49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5956" y="2415540"/>
              <a:ext cx="3256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Layer 2 — Semantic review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1046619" y="2471738"/>
              <a:ext cx="226218" cy="190499"/>
              <a:chOff x="11046619" y="2471738"/>
              <a:chExt cx="226218" cy="19049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1129962" y="25193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46619" y="2471738"/>
                <a:ext cx="21106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1062" h="142875">
                    <a:moveTo>
                      <a:pt x="107156" y="142875"/>
                    </a:moveTo>
                    <a:cubicBezTo>
                      <a:pt x="103251" y="142875"/>
                      <a:pt x="99393" y="142673"/>
                      <a:pt x="95607" y="142280"/>
                    </a:cubicBezTo>
                    <a:cubicBezTo>
                      <a:pt x="57841" y="138327"/>
                      <a:pt x="25956" y="114717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48411" y="0"/>
                      <a:pt x="183047" y="22062"/>
                      <a:pt x="211062" y="66175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189494" y="257889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251406" y="2640806"/>
                <a:ext cx="21431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21431" h="21431">
                    <a:moveTo>
                      <a:pt x="0" y="0"/>
                    </a:moveTo>
                    <a:lnTo>
                      <a:pt x="21431" y="21431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6286500" y="30670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4442" y="301656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ตรวจว่าสัญญาทั้งชุดสมเหตุสมผลไหม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86500" y="34099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4442" y="3359468"/>
              <a:ext cx="2577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อ่านผ่าน 12 เลนส์ โดย AI หรือคน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86500" y="3752850"/>
              <a:ext cx="952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4442" y="3702368"/>
              <a:ext cx="2762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บันทึกเป็น HANDOFF-REVIEW.json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86500" y="4324350"/>
              <a:ext cx="952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84442" y="4273868"/>
              <a:ext cx="209297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เป็นหลักฐานที่ยังไม่ได้รับรอง ไม่ใช่การอนุมัติ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8942" y="4997768"/>
            <a:ext cx="8900655" cy="606933"/>
            <a:chOff x="678942" y="4997768"/>
            <a:chExt cx="8900655" cy="606933"/>
          </a:xfrm>
        </p:grpSpPr>
        <p:sp>
          <p:nvSpPr>
            <p:cNvPr id="44" name="TextBox 44"/>
            <p:cNvSpPr txBox="1"/>
            <p:nvPr/>
          </p:nvSpPr>
          <p:spPr>
            <a:xfrm>
              <a:off x="678942" y="4997768"/>
              <a:ext cx="3687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ทำไมถึงตั้งใจไม่ฝังกฎเชิงโดเมนลงไปในเครื่อง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8942" y="5340668"/>
              <a:ext cx="89006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"a validator that guesses wrong is worse than one that stays quiet — it teaches people to ignore it"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5800" y="5810250"/>
            <a:ext cx="10820400" cy="552450"/>
            <a:chOff x="685800" y="5810250"/>
            <a:chExt cx="10820400" cy="552450"/>
          </a:xfrm>
        </p:grpSpPr>
        <p:sp>
          <p:nvSpPr>
            <p:cNvPr id="47" name="Rectangle 47"/>
            <p:cNvSpPr/>
            <p:nvPr/>
          </p:nvSpPr>
          <p:spPr>
            <a:xfrm>
              <a:off x="685800" y="5810250"/>
              <a:ext cx="108204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3742" y="6007418"/>
              <a:ext cx="10038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ใครปิด finding ได้: AI ปิดได้เฉพาะสถานะ resolved — เลนส์ privacy และ environment ต้องให้คนปิด บังคับด้วยกฎ HANDOFF-010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891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เจาะลึก — ด่าน Handoff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72674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เลนส์ที่ใช้อ่านว่าสัญญานี้ทำได้จริงไหม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9704" y="2171700"/>
            <a:ext cx="3454146" cy="943356"/>
            <a:chOff x="679704" y="2171700"/>
            <a:chExt cx="3454146" cy="943356"/>
          </a:xfrm>
        </p:grpSpPr>
        <p:sp>
          <p:nvSpPr>
            <p:cNvPr id="7" name="Line 7"/>
            <p:cNvSpPr/>
            <p:nvPr/>
          </p:nvSpPr>
          <p:spPr>
            <a:xfrm>
              <a:off x="685800" y="21717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9704" y="22517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9704" y="2461260"/>
              <a:ext cx="1844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value_and_scope_slice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2689860"/>
              <a:ext cx="181813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ขอบเขตที่ตัดมา ส่งมอบคุณค่าที่ milestone ต้องโชว์ไหม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356354" y="2171700"/>
            <a:ext cx="3454146" cy="943356"/>
            <a:chOff x="4356354" y="2171700"/>
            <a:chExt cx="3454146" cy="943356"/>
          </a:xfrm>
        </p:grpSpPr>
        <p:sp>
          <p:nvSpPr>
            <p:cNvPr id="12" name="Line 12"/>
            <p:cNvSpPr/>
            <p:nvPr/>
          </p:nvSpPr>
          <p:spPr>
            <a:xfrm>
              <a:off x="4362450" y="21717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6354" y="22517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56354" y="2461260"/>
              <a:ext cx="1623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capability_lifecycle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56354" y="2689860"/>
              <a:ext cx="202387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แต่ละความสามารถครบวงจรไหม ไม่ใช่แค่ happy path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33004" y="2171700"/>
            <a:ext cx="3473196" cy="943356"/>
            <a:chOff x="8033004" y="2171700"/>
            <a:chExt cx="3473196" cy="943356"/>
          </a:xfrm>
        </p:grpSpPr>
        <p:sp>
          <p:nvSpPr>
            <p:cNvPr id="17" name="Line 17"/>
            <p:cNvSpPr/>
            <p:nvPr/>
          </p:nvSpPr>
          <p:spPr>
            <a:xfrm>
              <a:off x="8039100" y="217170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33004" y="22517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3004" y="2461260"/>
              <a:ext cx="2268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data_cardinality_and_units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3004" y="2689860"/>
              <a:ext cx="203911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entity จำนวน และหน่วย รองรับ use case ที่ประกาศไว้ไหม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9704" y="3105150"/>
            <a:ext cx="3454146" cy="943356"/>
            <a:chOff x="679704" y="3105150"/>
            <a:chExt cx="3454146" cy="943356"/>
          </a:xfrm>
        </p:grpSpPr>
        <p:sp>
          <p:nvSpPr>
            <p:cNvPr id="22" name="Line 22"/>
            <p:cNvSpPr/>
            <p:nvPr/>
          </p:nvSpPr>
          <p:spPr>
            <a:xfrm>
              <a:off x="685800" y="31051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3185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704" y="3394710"/>
              <a:ext cx="2641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state_transitions_and_rollback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704" y="3623310"/>
              <a:ext cx="240487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ทุก state machine มี guard terminal state และทางย้อนกลับไหม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56354" y="3105150"/>
            <a:ext cx="3454146" cy="943356"/>
            <a:chOff x="4356354" y="3105150"/>
            <a:chExt cx="3454146" cy="943356"/>
          </a:xfrm>
        </p:grpSpPr>
        <p:sp>
          <p:nvSpPr>
            <p:cNvPr id="27" name="Line 27"/>
            <p:cNvSpPr/>
            <p:nvPr/>
          </p:nvSpPr>
          <p:spPr>
            <a:xfrm>
              <a:off x="4362450" y="31051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56354" y="3185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56354" y="3394710"/>
              <a:ext cx="2522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concurrency_and_idempotency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56354" y="3623310"/>
              <a:ext cx="211531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เขียนพร้อมกัน retry และการจอง id ซ้ำ ระบุไว้หรือยัง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33004" y="3105150"/>
            <a:ext cx="3473196" cy="943356"/>
            <a:chOff x="8033004" y="3105150"/>
            <a:chExt cx="3473196" cy="943356"/>
          </a:xfrm>
        </p:grpSpPr>
        <p:sp>
          <p:nvSpPr>
            <p:cNvPr id="32" name="Line 32"/>
            <p:cNvSpPr/>
            <p:nvPr/>
          </p:nvSpPr>
          <p:spPr>
            <a:xfrm>
              <a:off x="8039100" y="310515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33004" y="3185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3004" y="3394710"/>
              <a:ext cx="2497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dependencies_and_build_order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33004" y="3623310"/>
              <a:ext cx="160477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ลำดับ build ที่ประกาศไว้ รันตามลำดับนั้นได้จริงไหม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4038600"/>
            <a:ext cx="3454146" cy="943356"/>
            <a:chOff x="679704" y="4038600"/>
            <a:chExt cx="3454146" cy="943356"/>
          </a:xfrm>
        </p:grpSpPr>
        <p:sp>
          <p:nvSpPr>
            <p:cNvPr id="37" name="Line 37"/>
            <p:cNvSpPr/>
            <p:nvPr/>
          </p:nvSpPr>
          <p:spPr>
            <a:xfrm>
              <a:off x="685800" y="40386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4118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9704" y="4328160"/>
              <a:ext cx="2013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ownership_and_capacity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9704" y="4556760"/>
              <a:ext cx="199339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ทุกสายงานมีเจ้าของเป็นชื่อคน มี integrator และกำลังคนไหม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356354" y="4038600"/>
            <a:ext cx="3454146" cy="943356"/>
            <a:chOff x="4356354" y="4038600"/>
            <a:chExt cx="3454146" cy="943356"/>
          </a:xfrm>
        </p:grpSpPr>
        <p:sp>
          <p:nvSpPr>
            <p:cNvPr id="42" name="Line 42"/>
            <p:cNvSpPr/>
            <p:nvPr/>
          </p:nvSpPr>
          <p:spPr>
            <a:xfrm>
              <a:off x="4362450" y="40386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356354" y="4118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56354" y="4328160"/>
              <a:ext cx="2497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acceptance_seed_reachability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56354" y="4556760"/>
              <a:ext cx="216103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 acceptance case ไปถึงได้ จาก seed data ที่มีไหม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033004" y="4038600"/>
            <a:ext cx="3473196" cy="943356"/>
            <a:chOff x="8033004" y="4038600"/>
            <a:chExt cx="3473196" cy="943356"/>
          </a:xfrm>
        </p:grpSpPr>
        <p:sp>
          <p:nvSpPr>
            <p:cNvPr id="47" name="Line 47"/>
            <p:cNvSpPr/>
            <p:nvPr/>
          </p:nvSpPr>
          <p:spPr>
            <a:xfrm>
              <a:off x="8039100" y="403860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33004" y="4118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33004" y="4328160"/>
              <a:ext cx="2471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automated_manual_test_split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33004" y="4556760"/>
              <a:ext cx="214579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แต่ละเคสระบุว่า automated หรือ manual พร้อม runner ไหม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79704" y="4972050"/>
            <a:ext cx="3454146" cy="943356"/>
            <a:chOff x="679704" y="4972050"/>
            <a:chExt cx="3454146" cy="943356"/>
          </a:xfrm>
        </p:grpSpPr>
        <p:sp>
          <p:nvSpPr>
            <p:cNvPr id="52" name="Line 52"/>
            <p:cNvSpPr/>
            <p:nvPr/>
          </p:nvSpPr>
          <p:spPr>
            <a:xfrm>
              <a:off x="685800" y="49720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9704" y="5052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981450" y="508635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9704" y="5261610"/>
              <a:ext cx="26922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privacy_and_data_classification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9704" y="5490210"/>
              <a:ext cx="208483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ข้อมูล ไฟล์ และ free text มีการ ตัดสินชั้นข้อมูลครบไหม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356354" y="4972050"/>
            <a:ext cx="3454146" cy="943356"/>
            <a:chOff x="4356354" y="4972050"/>
            <a:chExt cx="3454146" cy="943356"/>
          </a:xfrm>
        </p:grpSpPr>
        <p:sp>
          <p:nvSpPr>
            <p:cNvPr id="58" name="Line 58"/>
            <p:cNvSpPr/>
            <p:nvPr/>
          </p:nvSpPr>
          <p:spPr>
            <a:xfrm>
              <a:off x="4362450" y="497205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356354" y="5052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658100" y="508635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356354" y="5261610"/>
              <a:ext cx="3090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environment_and_device_constraints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56354" y="5490210"/>
              <a:ext cx="164287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วิธีเสิร์ฟรองรับอุปกรณ์และ runtime ที่ประกาศไว้ไหม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033004" y="4972050"/>
            <a:ext cx="3473196" cy="943356"/>
            <a:chOff x="8033004" y="4972050"/>
            <a:chExt cx="3473196" cy="943356"/>
          </a:xfrm>
        </p:grpSpPr>
        <p:sp>
          <p:nvSpPr>
            <p:cNvPr id="64" name="Line 64"/>
            <p:cNvSpPr/>
            <p:nvPr/>
          </p:nvSpPr>
          <p:spPr>
            <a:xfrm>
              <a:off x="8039100" y="497205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33004" y="5052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33004" y="5261610"/>
              <a:ext cx="2938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demo_startup_reset_and_recovery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33004" y="5490210"/>
              <a:ext cx="178003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เดโมมีทางเริ่ม รีเซ็ต ลดทอน และกู้คืนไหม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85800" y="6118860"/>
            <a:ext cx="8703829" cy="234696"/>
            <a:chOff x="685800" y="6118860"/>
            <a:chExt cx="8703829" cy="234696"/>
          </a:xfrm>
        </p:grpSpPr>
        <p:sp>
          <p:nvSpPr>
            <p:cNvPr id="69" name="Rectangle 69"/>
            <p:cNvSpPr/>
            <p:nvPr/>
          </p:nvSpPr>
          <p:spPr>
            <a:xfrm>
              <a:off x="685800" y="615315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84504" y="6118860"/>
              <a:ext cx="8405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เลนส์ 10 และ 11 AI ปิด finding เองไม่ได้ ต้องให้คนตัดสิน · ทุก finding ต้องอ้างหลักฐาน — finding ที่ไม่มีหลักฐานคือความเห็น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891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เจาะลึก — ด่าน Handoff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80020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ความพร้อมรายงานเป็นหกด่าน ไม่ใช่ค่าเดียว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76656" y="2186940"/>
            <a:ext cx="4390644" cy="3595116"/>
            <a:chOff x="676656" y="2186940"/>
            <a:chExt cx="4390644" cy="3595116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218694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หกด่านความพร้อม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2781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3742" y="2730818"/>
              <a:ext cx="12877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Contract Valid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3162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3742" y="3111818"/>
              <a:ext cx="2485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to Start Development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543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3742" y="3492818"/>
              <a:ext cx="1688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to Integrate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3924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3742" y="3873818"/>
              <a:ext cx="1271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to Demo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4305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4254818"/>
              <a:ext cx="1247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for UAT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4686300"/>
              <a:ext cx="95250" cy="95250"/>
            </a:xfrm>
            <a:prstGeom prst="rect">
              <a:avLst/>
            </a:prstGeom>
            <a:solidFill>
              <a:srgbClr val="DEDDD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42" y="4635818"/>
              <a:ext cx="158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 for Release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49911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5128260"/>
              <a:ext cx="2557272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แต่ละด่านมีสามค่า: true / false / null null สำคัญ เพราะ "ยังไม่มีการรีวิว" ไม่เท่ากับ "ไม่มี finding"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24856" y="2186940"/>
            <a:ext cx="5935873" cy="3118866"/>
            <a:chOff x="5324856" y="2186940"/>
            <a:chExt cx="5935873" cy="3118866"/>
          </a:xfrm>
        </p:grpSpPr>
        <p:sp>
          <p:nvSpPr>
            <p:cNvPr id="23" name="TextBox 23"/>
            <p:cNvSpPr txBox="1"/>
            <p:nvPr/>
          </p:nvSpPr>
          <p:spPr>
            <a:xfrm>
              <a:off x="5324856" y="2186940"/>
              <a:ext cx="2282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คะแนน 7 มิติ รวม 100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5398366" y="2667000"/>
              <a:ext cx="5862363" cy="2638806"/>
              <a:chOff x="5398366" y="2667000"/>
              <a:chExt cx="5862363" cy="2638806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8096250" y="2667000"/>
                <a:ext cx="952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90800">
                    <a:moveTo>
                      <a:pt x="0" y="0"/>
                    </a:moveTo>
                    <a:lnTo>
                      <a:pt x="0" y="25908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238895" y="2785110"/>
                <a:ext cx="16729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Engineering contract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8096250" y="2762250"/>
                <a:ext cx="2857500" cy="2095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061954" y="2785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786317" y="3166110"/>
                <a:ext cx="21255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Source and scope integrity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8096250" y="3143250"/>
                <a:ext cx="2143125" cy="209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347579" y="3166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932064" y="3547110"/>
                <a:ext cx="19797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Requirement traceability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8096250" y="3524250"/>
                <a:ext cx="2143125" cy="209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347579" y="3547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15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786533" y="3928110"/>
                <a:ext cx="212531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Acceptance and testability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8096250" y="3905250"/>
                <a:ext cx="2143125" cy="209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347579" y="3928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15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583890" y="4309110"/>
                <a:ext cx="23279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Dependency, owner, capacity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8096250" y="4286250"/>
                <a:ext cx="2143125" cy="209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347579" y="4309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15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398366" y="4690110"/>
                <a:ext cx="25134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Security, privacy, environment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096250" y="4667250"/>
                <a:ext cx="1428750" cy="209550"/>
              </a:xfrm>
              <a:prstGeom prst="rect">
                <a:avLst/>
              </a:prstGeom>
              <a:solidFill>
                <a:srgbClr val="DEDDD8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633204" y="4690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439037" y="5071110"/>
                <a:ext cx="24728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Demo and operational readiness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8096250" y="5048250"/>
                <a:ext cx="1428750" cy="209550"/>
              </a:xfrm>
              <a:prstGeom prst="rect">
                <a:avLst/>
              </a:prstGeom>
              <a:solidFill>
                <a:srgbClr val="DEDDD8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633204" y="50711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10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334000" y="5448300"/>
            <a:ext cx="6172200" cy="933450"/>
            <a:chOff x="5334000" y="5448300"/>
            <a:chExt cx="6172200" cy="933450"/>
          </a:xfrm>
        </p:grpSpPr>
        <p:sp>
          <p:nvSpPr>
            <p:cNvPr id="48" name="Rectangle 48"/>
            <p:cNvSpPr/>
            <p:nvPr/>
          </p:nvSpPr>
          <p:spPr>
            <a:xfrm>
              <a:off x="5334000" y="5448300"/>
              <a:ext cx="61722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556504" y="5566410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เพดานคะแนนสี่ข้อ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56504" y="5795010"/>
              <a:ext cx="578053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deterministic FAIL ใด ๆ → BLOCKED · review หายหรือเก่า → สูงสุด 70 ไม่มีเจ้าของเป็นชื่อคน หรือลำดับ build รันไม่ได้ → 69 · critical ที่บล็อก before_build → 49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76656" y="6054090"/>
            <a:ext cx="3640111" cy="352044"/>
            <a:chOff x="676656" y="6054090"/>
            <a:chExt cx="3640111" cy="352044"/>
          </a:xfrm>
        </p:grpSpPr>
        <p:sp>
          <p:nvSpPr>
            <p:cNvPr id="52" name="TextBox 52"/>
            <p:cNvSpPr txBox="1"/>
            <p:nvPr/>
          </p:nvSpPr>
          <p:spPr>
            <a:xfrm>
              <a:off x="676656" y="6054090"/>
              <a:ext cx="364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score is not an approval.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0113035" y="644271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พิสูจน์ว่าใช้ได้จริง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104732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สองโปรเจกต์ ผ่านทุกด่านเท่ากัน — แต่หนึ่งในนั้นสร้างไม่ได้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79704" y="2175510"/>
            <a:ext cx="10832592" cy="2348865"/>
            <a:chOff x="679704" y="2175510"/>
            <a:chExt cx="10832592" cy="2348865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2175510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rule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5604" y="2175510"/>
              <a:ext cx="1275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broken-project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37504" y="2175510"/>
              <a:ext cx="1140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fixed-project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73896" y="2175510"/>
              <a:ext cx="1038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ราคาที่ต้องจ่าย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9704" y="261366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HANDOFF-004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65604" y="2613660"/>
              <a:ext cx="3224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build: 4·D-001 2·D-002 3·D-003 1·D-004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7504" y="2613660"/>
              <a:ext cx="25807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เรียง 1 / 2 / 3 / 4 ตาม dependency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45064" y="26136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เสียวันแรกสองคน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2876550"/>
              <a:ext cx="10820400" cy="400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9704" y="301371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HANDOFF-012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65604" y="3013710"/>
              <a:ext cx="30976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กล้องหลัง — environment decision ยัง open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37504" y="3013710"/>
              <a:ext cx="2445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HTTPS ผ่าน proxy ที่แท็บเล็ตเชื่อถือ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45064" y="30137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พังบนเครื่องเดโม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9704" y="341376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HANDOFF-011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5604" y="3413760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รูปชิ้นส่วน sensitive=yes ช่องจัดชั้นว่าง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37504" y="34137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internal-only, stays on site network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56215" y="3413760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ขัดกับนโยบายข้อมูล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5800" y="3676650"/>
              <a:ext cx="10820400" cy="4000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381381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HANDOFF-007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5604" y="3813810"/>
              <a:ext cx="2840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AC-002 automated — ช่อง fixture ว่าง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37504" y="3813810"/>
              <a:ext cx="2644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fixture: parts-demo part P-0007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33914" y="381381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เคสไม่เคยถูกรัน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704" y="421386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HANDOFF-003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65604" y="4213860"/>
              <a:ext cx="1727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เจ้าของงาน = Dev Team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37504" y="4213860"/>
              <a:ext cx="1616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เจ้าของงาน = R. Silva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33914" y="421386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ไม่มีใครเริ่มงาน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85800" y="451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85800" y="4781550"/>
            <a:ext cx="6096000" cy="1667256"/>
            <a:chOff x="685800" y="4781550"/>
            <a:chExt cx="6096000" cy="1667256"/>
          </a:xfrm>
        </p:grpSpPr>
        <p:sp>
          <p:nvSpPr>
            <p:cNvPr id="36" name="Rectangle 36"/>
            <p:cNvSpPr/>
            <p:nvPr/>
          </p:nvSpPr>
          <p:spPr>
            <a:xfrm>
              <a:off x="685800" y="4781550"/>
              <a:ext cx="6096000" cy="1638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8304" y="4918710"/>
              <a:ext cx="3890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Verdict: READY TO BUILD, NOT READY TO DEMO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8304" y="5185410"/>
              <a:ext cx="14893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YES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Contract Valid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8304" y="5385435"/>
              <a:ext cx="2553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YES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Ready to Start Development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8304" y="5585460"/>
              <a:ext cx="18453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YES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 Ready to Integrate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8304" y="5785485"/>
              <a:ext cx="2662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NO 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Ready to Demo / UAT / Release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8304" y="5985510"/>
              <a:ext cx="2140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blocked by HF-005, OA-001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8304" y="6214110"/>
              <a:ext cx="1298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Score: 92 / 100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041642" y="4902518"/>
            <a:ext cx="3632168" cy="1635633"/>
            <a:chOff x="7041642" y="4902518"/>
            <a:chExt cx="3632168" cy="1635633"/>
          </a:xfrm>
        </p:grpSpPr>
        <p:sp>
          <p:nvSpPr>
            <p:cNvPr id="45" name="TextBox 45"/>
            <p:cNvSpPr txBox="1"/>
            <p:nvPr/>
          </p:nvSpPr>
          <p:spPr>
            <a:xfrm>
              <a:off x="7041642" y="4902518"/>
              <a:ext cx="353701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บล็อกเกอร์สองตัวมาจากคนละเอกสาร semantic review เจออุปกรณ์เดโมที่ทีมไม่ได้ เป็นเจ้าของ ส่วน HANDOFF.md ประกาศใบรับรอง ที่ยังไม่ได้ติดตั้งบนเครื่องนั้น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41642" y="6026468"/>
              <a:ext cx="363216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คะแนน 92 ไม่ใช่ 100 เพราะโปรเจกต์ที่เอกสาร ตัวเองบอกว่าเดโมไม่ได้ ไม่ควรอ่านว่าสมบูรณ์แบบ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113035" y="6576060"/>
            <a:ext cx="13992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Axiom-PMO 1.1.1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9798" y="635318"/>
            <a:ext cx="10836402" cy="1088707"/>
            <a:chOff x="669798" y="635318"/>
            <a:chExt cx="10836402" cy="1088707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6353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59942" y="6353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พิสูจน์ว่าใช้ได้จริง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9798" y="1050608"/>
              <a:ext cx="4328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กฎที่บังคับไม่ได้ ไม่ใช่กฎ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71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DEDDD8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69798" y="1945958"/>
            <a:ext cx="10540289" cy="744093"/>
            <a:chOff x="669798" y="1945958"/>
            <a:chExt cx="10540289" cy="744093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19459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82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8942" y="2426018"/>
              <a:ext cx="138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validation rules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70023" y="19459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79167" y="2426018"/>
              <a:ext cx="1222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handoff rules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70248" y="19459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79392" y="242601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review lenses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70473" y="1945958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148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79617" y="24260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fixture test cases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70698" y="1945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9842" y="2426018"/>
              <a:ext cx="1531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 โหลดตามงาน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70923" y="1945958"/>
              <a:ext cx="12564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5,414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80067" y="2426018"/>
              <a:ext cx="1530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บรรทัด PowerShell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6656" y="3044190"/>
            <a:ext cx="10469880" cy="2103311"/>
            <a:chOff x="676656" y="3044190"/>
            <a:chExt cx="10469880" cy="2103311"/>
          </a:xfrm>
        </p:grpSpPr>
        <p:sp>
          <p:nvSpPr>
            <p:cNvPr id="20" name="TextBox 20"/>
            <p:cNvSpPr txBox="1"/>
            <p:nvPr/>
          </p:nvSpPr>
          <p:spPr>
            <a:xfrm>
              <a:off x="676656" y="3044190"/>
              <a:ext cx="2829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engine ป้องกันตัวเองยังไง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5800" y="34290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7542" y="3397568"/>
              <a:ext cx="403421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config-mutation test พิสูจน์ว่า JSON policy มีผลจริง แก้ policy แล้วกฎต้องเปลี่ยนพฤติกรรม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" y="38862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7542" y="3854768"/>
              <a:ext cx="623735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เทสต์ยืนยันว่า scaffold ที่ generate ออกมาใหม่แต่ยังไม่กรอก ต้อง fail ที่ด่าน Handoff เพราะ generator ที่ปล่อยของผ่านได้เท่ากับกำลังผลิตหลักฐานปลอม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5800" y="43434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7542" y="4311968"/>
              <a:ext cx="51095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DOCTOR-009 ทำให้ build ล้มถ้ากฎอ้างถึงหน้าเอกสารที่ไม่มีอยู่จริง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5800" y="46863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7542" y="4654868"/>
              <a:ext cx="350272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 มีขั้น fault injection ที่กลับด้าน assertion เพื่อพิสูจน์ว่าตัวรันเทสต์ไม่กลืนความล้มเหลวของลูก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7356" y="3044190"/>
              <a:ext cx="12777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เริ่มใช้ยังไง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79642" y="3397568"/>
              <a:ext cx="400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validate-project.ps1 -ProjectPath &lt;project&gt;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0142" y="3626168"/>
              <a:ext cx="2739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-Mode Standard -Gate Handoff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79642" y="3854768"/>
              <a:ext cx="39435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assess-handoff.ps1 -ProjectPath &lt;project&gt;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0142" y="4083368"/>
              <a:ext cx="14171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-Mode Standard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79642" y="4311968"/>
              <a:ext cx="1449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pmo-doctor.ps1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9642" y="4540568"/>
              <a:ext cx="2276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run-validation-tests.ps1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80404" y="4671060"/>
              <a:ext cx="48661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exit code: 0 ผ่าน / 1 fail / 2 warning (บล็อกเมื่อเปิด -FailOnWarning) Windows PowerShell 5.1 คือขาอ้างอิงที่บล็อกใน CI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1847088" y="5598795"/>
            <a:ext cx="8497824" cy="1240917"/>
            <a:chOff x="1847088" y="5598795"/>
            <a:chExt cx="8497824" cy="1240917"/>
          </a:xfrm>
        </p:grpSpPr>
        <p:sp>
          <p:nvSpPr>
            <p:cNvPr id="39" name="TextBox 39"/>
            <p:cNvSpPr txBox="1"/>
            <p:nvPr/>
          </p:nvSpPr>
          <p:spPr>
            <a:xfrm>
              <a:off x="5071714" y="5598795"/>
              <a:ext cx="20485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can build.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47088" y="6027420"/>
              <a:ext cx="8497824" cy="8122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700"/>
                </a:lnSpc>
              </a:pPr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Axiom-PMO verifies the source, scope, evidence, tests, and authority behind the work.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xiom_pmo_overview">
  <a:themeElements>
    <a:clrScheme name="axiom_pmo_overview">
      <a:dk1>
        <a:srgbClr val="3A3F45"/>
      </a:dk1>
      <a:lt1>
        <a:srgbClr val="FFFFFF"/>
      </a:lt1>
      <a:dk2>
        <a:srgbClr val="1F497D"/>
      </a:dk2>
      <a:lt2>
        <a:srgbClr val="F2F1ED"/>
      </a:lt2>
      <a:accent1>
        <a:srgbClr val="14161A"/>
      </a:accent1>
      <a:accent2>
        <a:srgbClr val="D6360B"/>
      </a:accent2>
      <a:accent3>
        <a:srgbClr val="2E6B5E"/>
      </a:accent3>
      <a:accent4>
        <a:srgbClr val="14161A"/>
      </a:accent4>
      <a:accent5>
        <a:srgbClr val="B36A00"/>
      </a:accent5>
      <a:accent6>
        <a:srgbClr val="FAFAF8"/>
      </a:accent6>
      <a:hlink>
        <a:srgbClr val="D6360B"/>
      </a:hlink>
      <a:folHlink>
        <a:srgbClr val="2E6B5E"/>
      </a:folHlink>
    </a:clrScheme>
    <a:fontScheme name="axiom_pmo_overview">
      <a:majorFont>
        <a:latin typeface="Tahoma"/>
        <a:ea typeface="Microsoft YaHei"/>
        <a:cs typeface="Tahom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Microsoft YaHei"/>
        <a:cs typeface="Tahom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xiom_pmo_ov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xiom_pmo_overview">
  <a:themeElements>
    <a:clrScheme name="axiom_pmo_overview">
      <a:dk1>
        <a:srgbClr val="3A3F45"/>
      </a:dk1>
      <a:lt1>
        <a:srgbClr val="FFFFFF"/>
      </a:lt1>
      <a:dk2>
        <a:srgbClr val="1F497D"/>
      </a:dk2>
      <a:lt2>
        <a:srgbClr val="F2F1ED"/>
      </a:lt2>
      <a:accent1>
        <a:srgbClr val="14161A"/>
      </a:accent1>
      <a:accent2>
        <a:srgbClr val="D6360B"/>
      </a:accent2>
      <a:accent3>
        <a:srgbClr val="2E6B5E"/>
      </a:accent3>
      <a:accent4>
        <a:srgbClr val="14161A"/>
      </a:accent4>
      <a:accent5>
        <a:srgbClr val="B36A00"/>
      </a:accent5>
      <a:accent6>
        <a:srgbClr val="FAFAF8"/>
      </a:accent6>
      <a:hlink>
        <a:srgbClr val="D6360B"/>
      </a:hlink>
      <a:folHlink>
        <a:srgbClr val="2E6B5E"/>
      </a:folHlink>
    </a:clrScheme>
    <a:fontScheme name="axiom_pmo_overview">
      <a:majorFont>
        <a:latin typeface="Tahoma"/>
        <a:ea typeface="Microsoft YaHei"/>
        <a:cs typeface="Tahom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Microsoft YaHei"/>
        <a:cs typeface="Tahom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xiom_pmo_ov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2026-07-26T09:40:10Z</dcterms:created>
  <dcterms:modified xsi:type="dcterms:W3CDTF">2026-07-26T09:40:10Z</dcterms:modified>
  <cp:category/>
  <cp:contentStatus/>
</cp:coreProperties>
</file>